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71" r:id="rId5"/>
    <p:sldId id="272" r:id="rId6"/>
    <p:sldId id="263" r:id="rId7"/>
    <p:sldId id="273" r:id="rId8"/>
    <p:sldId id="264" r:id="rId9"/>
    <p:sldId id="274" r:id="rId10"/>
    <p:sldId id="265" r:id="rId11"/>
    <p:sldId id="266" r:id="rId12"/>
    <p:sldId id="275" r:id="rId13"/>
    <p:sldId id="267" r:id="rId14"/>
    <p:sldId id="268" r:id="rId15"/>
    <p:sldId id="269" r:id="rId16"/>
    <p:sldId id="270" r:id="rId17"/>
  </p:sldIdLst>
  <p:sldSz cx="12190413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91B2"/>
    <a:srgbClr val="2563EC"/>
    <a:srgbClr val="EA57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57" autoAdjust="0"/>
    <p:restoredTop sz="94801"/>
  </p:normalViewPr>
  <p:slideViewPr>
    <p:cSldViewPr>
      <p:cViewPr>
        <p:scale>
          <a:sx n="83" d="100"/>
          <a:sy n="83" d="100"/>
        </p:scale>
        <p:origin x="824" y="4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224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63C02-D8E3-4493-AE79-66EB623E093F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9A073-97C9-444C-8719-26B312C5E6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480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9A073-97C9-444C-8719-26B312C5E6E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11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9A073-97C9-444C-8719-26B312C5E6E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093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9A073-97C9-444C-8719-26B312C5E6E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168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21" y="1600201"/>
            <a:ext cx="10971372" cy="4525963"/>
          </a:xfrm>
          <a:prstGeom prst="rect">
            <a:avLst/>
          </a:prstGeom>
          <a:ln cmpd="thinThick">
            <a:solidFill>
              <a:schemeClr val="tx1"/>
            </a:solidFill>
            <a:prstDash val="sysDash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831165E-5BC5-4EAB-A76A-FC4899A3967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36418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9C1DAD4-348A-48EF-B117-2B71B23AAEC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直線接點 7"/>
          <p:cNvCxnSpPr/>
          <p:nvPr userDrawn="1"/>
        </p:nvCxnSpPr>
        <p:spPr>
          <a:xfrm>
            <a:off x="143320" y="6156385"/>
            <a:ext cx="11903773" cy="0"/>
          </a:xfrm>
          <a:prstGeom prst="line">
            <a:avLst/>
          </a:prstGeom>
          <a:ln w="38100" cmpd="thinThick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 userDrawn="1"/>
        </p:nvCxnSpPr>
        <p:spPr>
          <a:xfrm>
            <a:off x="295720" y="6308785"/>
            <a:ext cx="11903773" cy="0"/>
          </a:xfrm>
          <a:prstGeom prst="line">
            <a:avLst/>
          </a:prstGeom>
          <a:ln w="38100" cmpd="thinThick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139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36418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9C1DAD4-348A-48EF-B117-2B71B23AAECB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7101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831165E-5BC5-4EAB-A76A-FC4899A3967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36418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9C1DAD4-348A-48EF-B117-2B71B23AAE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566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521" y="1600201"/>
            <a:ext cx="5384099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6793" y="1600201"/>
            <a:ext cx="5384099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831165E-5BC5-4EAB-A76A-FC4899A3967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36418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9C1DAD4-348A-48EF-B117-2B71B23AAE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76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831165E-5BC5-4EAB-A76A-FC4899A3967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836418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9C1DAD4-348A-48EF-B117-2B71B23AAE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9713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831165E-5BC5-4EAB-A76A-FC4899A3967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975525" y="6356351"/>
            <a:ext cx="2605367" cy="313009"/>
          </a:xfrm>
          <a:prstGeom prst="rect">
            <a:avLst/>
          </a:prstGeom>
        </p:spPr>
        <p:txBody>
          <a:bodyPr/>
          <a:lstStyle/>
          <a:p>
            <a:fld id="{19C1DAD4-348A-48EF-B117-2B71B23AAE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356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831165E-5BC5-4EAB-A76A-FC4899A3967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36418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9C1DAD4-348A-48EF-B117-2B71B23AAE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160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831165E-5BC5-4EAB-A76A-FC4899A3967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36418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9C1DAD4-348A-48EF-B117-2B71B23AAE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02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831165E-5BC5-4EAB-A76A-FC4899A3967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36418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9C1DAD4-348A-48EF-B117-2B71B23AAE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85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521" y="1600201"/>
            <a:ext cx="10971372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831165E-5BC5-4EAB-A76A-FC4899A3967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36418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9C1DAD4-348A-48EF-B117-2B71B23AAE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548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8049" y="274639"/>
            <a:ext cx="2742843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521" y="274639"/>
            <a:ext cx="8025355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831165E-5BC5-4EAB-A76A-FC4899A3967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36418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9C1DAD4-348A-48EF-B117-2B71B23AAE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35252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058" y="6356351"/>
            <a:ext cx="386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143320" y="6156385"/>
            <a:ext cx="11903773" cy="0"/>
          </a:xfrm>
          <a:prstGeom prst="line">
            <a:avLst/>
          </a:prstGeom>
          <a:ln w="38100" cmpd="thinThick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74" descr="index_title_1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119542" y="6253045"/>
            <a:ext cx="27416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文字方塊 9"/>
          <p:cNvSpPr txBox="1"/>
          <p:nvPr userDrawn="1"/>
        </p:nvSpPr>
        <p:spPr>
          <a:xfrm>
            <a:off x="1024687" y="6381328"/>
            <a:ext cx="47724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TW" sz="1600" b="1" i="1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z="1600">
                <a:latin typeface="Arial" panose="020B0604020202020204" pitchFamily="34" charset="0"/>
                <a:cs typeface="Arial" panose="020B0604020202020204" pitchFamily="34" charset="0"/>
              </a:rPr>
              <a:t>Smart Materials &amp; Energy Harvesting Laboratory</a:t>
            </a:r>
            <a:endParaRPr lang="zh-TW" altLang="en-US" sz="1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73585" y="6253045"/>
            <a:ext cx="768032" cy="58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43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/>
          <p:cNvCxnSpPr/>
          <p:nvPr/>
        </p:nvCxnSpPr>
        <p:spPr>
          <a:xfrm>
            <a:off x="334566" y="980728"/>
            <a:ext cx="11521280" cy="0"/>
          </a:xfrm>
          <a:prstGeom prst="line">
            <a:avLst/>
          </a:prstGeom>
          <a:noFill/>
          <a:ln w="31750" cap="flat" cmpd="sng" algn="ctr">
            <a:solidFill>
              <a:srgbClr val="1F497D">
                <a:lumMod val="75000"/>
              </a:srgbClr>
            </a:solidFill>
            <a:prstDash val="solid"/>
          </a:ln>
          <a:effectLst/>
        </p:spPr>
      </p:cxnSp>
      <p:sp>
        <p:nvSpPr>
          <p:cNvPr id="3" name="標題 2">
            <a:extLst>
              <a:ext uri="{FF2B5EF4-FFF2-40B4-BE49-F238E27FC236}">
                <a16:creationId xmlns:a16="http://schemas.microsoft.com/office/drawing/2014/main" id="{F3CD3453-4683-E1A6-3541-6B9A48386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280" y="1448742"/>
            <a:ext cx="10361851" cy="1470025"/>
          </a:xfrm>
        </p:spPr>
        <p:txBody>
          <a:bodyPr anchor="ctr"/>
          <a:lstStyle/>
          <a:p>
            <a:r>
              <a:rPr lang="en-US" altLang="zh-TW" sz="5400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DBMS Final Project: </a:t>
            </a:r>
            <a:r>
              <a:rPr lang="en-US" altLang="zh-TW" sz="5400" dirty="0" err="1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ArtifactStore</a:t>
            </a:r>
            <a:endParaRPr lang="zh-TW" altLang="en-US" sz="5400" dirty="0">
              <a:latin typeface="Arial" panose="020B0604020202020204" pitchFamily="34" charset="0"/>
              <a:ea typeface="BiauKaiTC Regular" panose="03000500000000000000" pitchFamily="66" charset="-120"/>
              <a:cs typeface="Arial" panose="020B0604020202020204" pitchFamily="34" charset="0"/>
            </a:endParaRPr>
          </a:p>
        </p:txBody>
      </p:sp>
      <p:sp>
        <p:nvSpPr>
          <p:cNvPr id="5" name="副標題 3">
            <a:extLst>
              <a:ext uri="{FF2B5EF4-FFF2-40B4-BE49-F238E27FC236}">
                <a16:creationId xmlns:a16="http://schemas.microsoft.com/office/drawing/2014/main" id="{3E2D959C-EAFD-AAD3-F2AB-432F9C593220}"/>
              </a:ext>
            </a:extLst>
          </p:cNvPr>
          <p:cNvSpPr txBox="1">
            <a:spLocks/>
          </p:cNvSpPr>
          <p:nvPr/>
        </p:nvSpPr>
        <p:spPr>
          <a:xfrm>
            <a:off x="4817061" y="4291384"/>
            <a:ext cx="2556285" cy="17526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TW" altLang="en-US" sz="2000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第三組</a:t>
            </a:r>
            <a:endParaRPr lang="en-US" altLang="zh-TW" sz="2000" dirty="0">
              <a:latin typeface="Arial" panose="020B0604020202020204" pitchFamily="34" charset="0"/>
              <a:ea typeface="BiauKaiTC Regular" panose="03000500000000000000" pitchFamily="66" charset="-120"/>
              <a:cs typeface="Arial" panose="020B0604020202020204" pitchFamily="34" charset="0"/>
            </a:endParaRPr>
          </a:p>
          <a:p>
            <a:r>
              <a:rPr lang="zh-TW" altLang="en-US" sz="2000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陳浩文</a:t>
            </a:r>
            <a:r>
              <a:rPr lang="en-US" altLang="zh-TW" sz="2000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B11902156</a:t>
            </a:r>
          </a:p>
          <a:p>
            <a:r>
              <a:rPr lang="zh-TW" altLang="en-US" sz="2000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白謹瑜</a:t>
            </a:r>
            <a:r>
              <a:rPr lang="en-US" altLang="zh-TW" sz="2000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 F10543030</a:t>
            </a:r>
          </a:p>
          <a:p>
            <a:r>
              <a:rPr lang="zh-TW" altLang="en-US" sz="2000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何吉峻 </a:t>
            </a:r>
            <a:r>
              <a:rPr lang="en-US" altLang="zh-TW" sz="2000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R14921126</a:t>
            </a:r>
          </a:p>
          <a:p>
            <a:endParaRPr lang="en-US" altLang="zh-TW" sz="2000" dirty="0">
              <a:latin typeface="Arial" panose="020B0604020202020204" pitchFamily="34" charset="0"/>
              <a:ea typeface="BiauKaiTC Regular" panose="03000500000000000000" pitchFamily="66" charset="-120"/>
              <a:cs typeface="Arial" panose="020B0604020202020204" pitchFamily="34" charset="0"/>
            </a:endParaRPr>
          </a:p>
          <a:p>
            <a:endParaRPr lang="en-US" altLang="zh-TW" sz="2000" dirty="0">
              <a:latin typeface="Arial" panose="020B0604020202020204" pitchFamily="34" charset="0"/>
              <a:ea typeface="BiauKaiTC Regular" panose="03000500000000000000" pitchFamily="66" charset="-120"/>
              <a:cs typeface="Arial" panose="020B0604020202020204" pitchFamily="34" charset="0"/>
            </a:endParaRPr>
          </a:p>
        </p:txBody>
      </p:sp>
      <p:sp>
        <p:nvSpPr>
          <p:cNvPr id="12" name="副標題 2">
            <a:extLst>
              <a:ext uri="{FF2B5EF4-FFF2-40B4-BE49-F238E27FC236}">
                <a16:creationId xmlns:a16="http://schemas.microsoft.com/office/drawing/2014/main" id="{CA1A6C8D-645B-1A35-F9D3-79006273B1E4}"/>
              </a:ext>
            </a:extLst>
          </p:cNvPr>
          <p:cNvSpPr txBox="1">
            <a:spLocks/>
          </p:cNvSpPr>
          <p:nvPr/>
        </p:nvSpPr>
        <p:spPr>
          <a:xfrm>
            <a:off x="1828560" y="2821359"/>
            <a:ext cx="8533289" cy="17526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A Typed and Permission-Scoped Tool-Result Store for AI Agent Harnesses</a:t>
            </a:r>
            <a:endParaRPr lang="zh-TW" altLang="en-US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2871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752D37-7736-1C1C-C4FC-4216DB832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602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752D37-7736-1C1C-C4FC-4216DB83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20" y="288368"/>
            <a:ext cx="10971372" cy="1143000"/>
          </a:xfrm>
        </p:spPr>
        <p:txBody>
          <a:bodyPr anchor="ctr"/>
          <a:lstStyle/>
          <a:p>
            <a:r>
              <a:rPr kumimoji="1" lang="en" altLang="zh-TW" sz="3600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Motivation: Tool Outputs Overload Agent Context</a:t>
            </a:r>
            <a:endParaRPr kumimoji="1" lang="zh-TW" altLang="en-US" sz="3600" dirty="0">
              <a:latin typeface="Arial" panose="020B0604020202020204" pitchFamily="34" charset="0"/>
              <a:ea typeface="BiauKaiTC Regular" panose="03000500000000000000" pitchFamily="66" charset="-120"/>
              <a:cs typeface="Arial" panose="020B0604020202020204" pitchFamily="34" charset="0"/>
            </a:endParaRPr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4F544E34-40B2-0905-8338-47922DD2413F}"/>
              </a:ext>
            </a:extLst>
          </p:cNvPr>
          <p:cNvGrpSpPr/>
          <p:nvPr/>
        </p:nvGrpSpPr>
        <p:grpSpPr>
          <a:xfrm>
            <a:off x="967035" y="1628800"/>
            <a:ext cx="10283854" cy="4521832"/>
            <a:chOff x="938208" y="1724541"/>
            <a:chExt cx="10283854" cy="4521832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F789B562-0BB7-4A1F-68B8-1215CF382824}"/>
                </a:ext>
              </a:extLst>
            </p:cNvPr>
            <p:cNvGrpSpPr/>
            <p:nvPr/>
          </p:nvGrpSpPr>
          <p:grpSpPr>
            <a:xfrm>
              <a:off x="992888" y="1724541"/>
              <a:ext cx="4189541" cy="936104"/>
              <a:chOff x="406574" y="1628800"/>
              <a:chExt cx="4189541" cy="936104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D5109A2-92D3-7208-2D53-2025398C02FB}"/>
                  </a:ext>
                </a:extLst>
              </p:cNvPr>
              <p:cNvSpPr/>
              <p:nvPr/>
            </p:nvSpPr>
            <p:spPr>
              <a:xfrm>
                <a:off x="609521" y="1789046"/>
                <a:ext cx="1093197" cy="64807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  <a:latin typeface="Arial" panose="020B0604020202020204" pitchFamily="34" charset="0"/>
                    <a:ea typeface="BiauKaiTC Regular" panose="03000500000000000000" pitchFamily="66" charset="-120"/>
                    <a:cs typeface="Arial" panose="020B0604020202020204" pitchFamily="34" charset="0"/>
                  </a:rPr>
                  <a:t>User </a:t>
                </a:r>
                <a:endParaRPr kumimoji="1" lang="zh-TW" altLang="en-US" dirty="0">
                  <a:solidFill>
                    <a:schemeClr val="tx1"/>
                  </a:solidFill>
                  <a:latin typeface="Arial" panose="020B0604020202020204" pitchFamily="34" charset="0"/>
                  <a:ea typeface="BiauKaiTC Regular" panose="03000500000000000000" pitchFamily="66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0185442-4615-7779-A596-07A9928DEF9E}"/>
                  </a:ext>
                </a:extLst>
              </p:cNvPr>
              <p:cNvSpPr txBox="1"/>
              <p:nvPr/>
            </p:nvSpPr>
            <p:spPr>
              <a:xfrm>
                <a:off x="1774726" y="1789046"/>
                <a:ext cx="28213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latin typeface="Arial" panose="020B0604020202020204" pitchFamily="34" charset="0"/>
                    <a:ea typeface="BiauKaiTC Regular" panose="03000500000000000000" pitchFamily="66" charset="-120"/>
                    <a:cs typeface="Arial" panose="020B0604020202020204" pitchFamily="34" charset="0"/>
                  </a:rPr>
                  <a:t>Run the </a:t>
                </a:r>
                <a:r>
                  <a:rPr kumimoji="1" lang="en-US" altLang="zh-TW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BiauKaiTC Regular" panose="03000500000000000000" pitchFamily="66" charset="-120"/>
                    <a:cs typeface="Arial" panose="020B0604020202020204" pitchFamily="34" charset="0"/>
                  </a:rPr>
                  <a:t>pytest</a:t>
                </a:r>
                <a:r>
                  <a:rPr kumimoji="1" lang="en-US" altLang="zh-TW" dirty="0">
                    <a:latin typeface="Arial" panose="020B0604020202020204" pitchFamily="34" charset="0"/>
                    <a:ea typeface="BiauKaiTC Regular" panose="03000500000000000000" pitchFamily="66" charset="-120"/>
                    <a:cs typeface="Arial" panose="020B0604020202020204" pitchFamily="34" charset="0"/>
                  </a:rPr>
                  <a:t> workload on target and …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0FCB0AA-A1FB-AF08-6E99-433D89931112}"/>
                  </a:ext>
                </a:extLst>
              </p:cNvPr>
              <p:cNvSpPr/>
              <p:nvPr/>
            </p:nvSpPr>
            <p:spPr>
              <a:xfrm>
                <a:off x="406574" y="1628800"/>
                <a:ext cx="4189541" cy="93610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>
                  <a:latin typeface="Arial" panose="020B0604020202020204" pitchFamily="34" charset="0"/>
                  <a:ea typeface="BiauKaiTC Regular" panose="03000500000000000000" pitchFamily="66" charset="-12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向下箭號 26">
              <a:extLst>
                <a:ext uri="{FF2B5EF4-FFF2-40B4-BE49-F238E27FC236}">
                  <a16:creationId xmlns:a16="http://schemas.microsoft.com/office/drawing/2014/main" id="{D3D8B5F7-2791-F6AC-4EE4-C3826E778171}"/>
                </a:ext>
              </a:extLst>
            </p:cNvPr>
            <p:cNvSpPr/>
            <p:nvPr/>
          </p:nvSpPr>
          <p:spPr>
            <a:xfrm>
              <a:off x="2939131" y="2701788"/>
              <a:ext cx="297054" cy="413553"/>
            </a:xfrm>
            <a:prstGeom prst="down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endParaRPr>
            </a:p>
          </p:txBody>
        </p: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15F90BD4-A98E-900B-0C4A-5048664B11AC}"/>
                </a:ext>
              </a:extLst>
            </p:cNvPr>
            <p:cNvGrpSpPr/>
            <p:nvPr/>
          </p:nvGrpSpPr>
          <p:grpSpPr>
            <a:xfrm>
              <a:off x="968350" y="1772816"/>
              <a:ext cx="10253712" cy="3708414"/>
              <a:chOff x="648745" y="1916830"/>
              <a:chExt cx="10253712" cy="3708414"/>
            </a:xfrm>
          </p:grpSpPr>
          <p:grpSp>
            <p:nvGrpSpPr>
              <p:cNvPr id="25" name="群組 24">
                <a:extLst>
                  <a:ext uri="{FF2B5EF4-FFF2-40B4-BE49-F238E27FC236}">
                    <a16:creationId xmlns:a16="http://schemas.microsoft.com/office/drawing/2014/main" id="{4EC35C3D-F380-B290-B17F-40391EA3E167}"/>
                  </a:ext>
                </a:extLst>
              </p:cNvPr>
              <p:cNvGrpSpPr/>
              <p:nvPr/>
            </p:nvGrpSpPr>
            <p:grpSpPr>
              <a:xfrm>
                <a:off x="648745" y="3302986"/>
                <a:ext cx="4189541" cy="936104"/>
                <a:chOff x="406574" y="3068960"/>
                <a:chExt cx="4189541" cy="936104"/>
              </a:xfrm>
            </p:grpSpPr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4C83635B-6FBF-E9E6-3F8A-8925B4A7041A}"/>
                    </a:ext>
                  </a:extLst>
                </p:cNvPr>
                <p:cNvSpPr/>
                <p:nvPr/>
              </p:nvSpPr>
              <p:spPr>
                <a:xfrm>
                  <a:off x="576736" y="3212976"/>
                  <a:ext cx="1093197" cy="64807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LLM </a:t>
                  </a:r>
                  <a:endParaRPr kumimoji="1" lang="zh-TW" altLang="en-US" dirty="0">
                    <a:solidFill>
                      <a:schemeClr val="tx1"/>
                    </a:solidFill>
                    <a:latin typeface="Arial" panose="020B0604020202020204" pitchFamily="34" charset="0"/>
                    <a:ea typeface="BiauKaiTC Regular" panose="03000500000000000000" pitchFamily="66" charset="-12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CA5CF7D9-F523-D0E8-473E-E94E2471B667}"/>
                    </a:ext>
                  </a:extLst>
                </p:cNvPr>
                <p:cNvSpPr/>
                <p:nvPr/>
              </p:nvSpPr>
              <p:spPr>
                <a:xfrm>
                  <a:off x="406574" y="3068960"/>
                  <a:ext cx="4189541" cy="93610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>
                    <a:latin typeface="Arial" panose="020B0604020202020204" pitchFamily="34" charset="0"/>
                    <a:ea typeface="BiauKaiTC Regular" panose="03000500000000000000" pitchFamily="66" charset="-12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909DD6D6-5146-208C-B32F-29DC0DCFA4C0}"/>
                    </a:ext>
                  </a:extLst>
                </p:cNvPr>
                <p:cNvSpPr txBox="1"/>
                <p:nvPr/>
              </p:nvSpPr>
              <p:spPr>
                <a:xfrm>
                  <a:off x="1967823" y="3244334"/>
                  <a:ext cx="109319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Tool Call</a:t>
                  </a:r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C55CE1C6-D7D3-856C-1A37-71B8B15D39E2}"/>
                    </a:ext>
                  </a:extLst>
                </p:cNvPr>
                <p:cNvSpPr/>
                <p:nvPr/>
              </p:nvSpPr>
              <p:spPr>
                <a:xfrm>
                  <a:off x="3381833" y="3212976"/>
                  <a:ext cx="1093197" cy="64807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dirty="0" err="1">
                      <a:solidFill>
                        <a:schemeClr val="tx1"/>
                      </a:solidFill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Pytest</a:t>
                  </a:r>
                  <a:endParaRPr kumimoji="1" lang="zh-TW" altLang="en-US" dirty="0">
                    <a:solidFill>
                      <a:schemeClr val="tx1"/>
                    </a:solidFill>
                    <a:latin typeface="Arial" panose="020B0604020202020204" pitchFamily="34" charset="0"/>
                    <a:ea typeface="BiauKaiTC Regular" panose="03000500000000000000" pitchFamily="66" charset="-12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0" name="直線箭頭接點 19">
                  <a:extLst>
                    <a:ext uri="{FF2B5EF4-FFF2-40B4-BE49-F238E27FC236}">
                      <a16:creationId xmlns:a16="http://schemas.microsoft.com/office/drawing/2014/main" id="{D861AE30-464C-3396-C418-082DDC5C74AA}"/>
                    </a:ext>
                  </a:extLst>
                </p:cNvPr>
                <p:cNvCxnSpPr>
                  <a:cxnSpLocks/>
                  <a:stCxn id="5" idx="3"/>
                  <a:endCxn id="14" idx="1"/>
                </p:cNvCxnSpPr>
                <p:nvPr/>
              </p:nvCxnSpPr>
              <p:spPr>
                <a:xfrm>
                  <a:off x="1669933" y="3537012"/>
                  <a:ext cx="17119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不規則四邊形 27">
                <a:extLst>
                  <a:ext uri="{FF2B5EF4-FFF2-40B4-BE49-F238E27FC236}">
                    <a16:creationId xmlns:a16="http://schemas.microsoft.com/office/drawing/2014/main" id="{77ACB334-8EE4-D02B-09A4-D78C3FCD8E71}"/>
                  </a:ext>
                </a:extLst>
              </p:cNvPr>
              <p:cNvSpPr/>
              <p:nvPr/>
            </p:nvSpPr>
            <p:spPr>
              <a:xfrm rot="16200000">
                <a:off x="3335183" y="3304752"/>
                <a:ext cx="3685535" cy="909691"/>
              </a:xfrm>
              <a:prstGeom prst="trapezoid">
                <a:avLst>
                  <a:gd name="adj" fmla="val 172476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2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>
                  <a:latin typeface="Arial" panose="020B0604020202020204" pitchFamily="34" charset="0"/>
                  <a:ea typeface="BiauKaiTC Regular" panose="03000500000000000000" pitchFamily="66" charset="-120"/>
                  <a:cs typeface="Arial" panose="020B0604020202020204" pitchFamily="34" charset="0"/>
                </a:endParaRPr>
              </a:p>
            </p:txBody>
          </p:sp>
          <p:grpSp>
            <p:nvGrpSpPr>
              <p:cNvPr id="24" name="群組 23">
                <a:extLst>
                  <a:ext uri="{FF2B5EF4-FFF2-40B4-BE49-F238E27FC236}">
                    <a16:creationId xmlns:a16="http://schemas.microsoft.com/office/drawing/2014/main" id="{97EC5B08-F30E-D162-0F08-14DE3BF05725}"/>
                  </a:ext>
                </a:extLst>
              </p:cNvPr>
              <p:cNvGrpSpPr/>
              <p:nvPr/>
            </p:nvGrpSpPr>
            <p:grpSpPr>
              <a:xfrm>
                <a:off x="5704802" y="1916832"/>
                <a:ext cx="5197655" cy="3708412"/>
                <a:chOff x="5672018" y="1556792"/>
                <a:chExt cx="5197655" cy="3708412"/>
              </a:xfrm>
            </p:grpSpPr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3B7245F7-8598-60F5-6EE9-C81D74706B69}"/>
                    </a:ext>
                  </a:extLst>
                </p:cNvPr>
                <p:cNvSpPr/>
                <p:nvPr/>
              </p:nvSpPr>
              <p:spPr>
                <a:xfrm>
                  <a:off x="5672018" y="1556792"/>
                  <a:ext cx="5197655" cy="3708412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40000"/>
                      <a:lumOff val="6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>
                    <a:latin typeface="Arial" panose="020B0604020202020204" pitchFamily="34" charset="0"/>
                    <a:ea typeface="BiauKaiTC Regular" panose="03000500000000000000" pitchFamily="66" charset="-12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FCEAC0B3-46DD-7377-3E9F-56B3F20F83E0}"/>
                    </a:ext>
                  </a:extLst>
                </p:cNvPr>
                <p:cNvSpPr txBox="1"/>
                <p:nvPr/>
              </p:nvSpPr>
              <p:spPr>
                <a:xfrm>
                  <a:off x="5744026" y="1613408"/>
                  <a:ext cx="5053638" cy="34778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========================== test session starts ======================</a:t>
                  </a:r>
                </a:p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platform 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darwin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 -- Python 3.11.7, pytest-8.2.0, pluggy-1.5.0</a:t>
                  </a:r>
                </a:p>
                <a:p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rootdir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: /Users/dev/example-app</a:t>
                  </a:r>
                </a:p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collected 47 items</a:t>
                  </a:r>
                </a:p>
                <a:p>
                  <a:b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</a:b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tests/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test_login.py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 .......... [ 21%]</a:t>
                  </a:r>
                </a:p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tests/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test_refresh.py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 ........ [ 38%]</a:t>
                  </a:r>
                </a:p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tests/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test_auth.py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 .....F..... [ 61%]</a:t>
                  </a:r>
                </a:p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tests/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test_session.py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 ............ [ 87%]</a:t>
                  </a:r>
                </a:p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tests/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test_oauth.py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 ...... [100%]</a:t>
                  </a:r>
                </a:p>
                <a:p>
                  <a:b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</a:b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========================== FAILURES =============================</a:t>
                  </a:r>
                </a:p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_______________________ 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test_auth_expiry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 __________________________</a:t>
                  </a:r>
                </a:p>
                <a:p>
                  <a:b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</a:b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self = &lt;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tests.test_auth.TestAuthExpiry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 object at 0x10e1c2d50&gt;</a:t>
                  </a:r>
                </a:p>
                <a:p>
                  <a:b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</a:b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def 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test_auth_expiry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(self):</a:t>
                  </a:r>
                </a:p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token = 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mint_token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(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user_id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=42, 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ttl_seconds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=3600)</a:t>
                  </a:r>
                </a:p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# advance the clock by 30 minutes; token should still be valid</a:t>
                  </a:r>
                </a:p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with 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freeze_time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(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datetime.now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() + 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timedelta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(minutes=30)):</a:t>
                  </a:r>
                </a:p>
                <a:p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&gt; assert </a:t>
                  </a:r>
                  <a:r>
                    <a:rPr lang="en" altLang="zh-TW" sz="1000" b="0" dirty="0" err="1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validate_token</a:t>
                  </a:r>
                  <a:r>
                    <a:rPr lang="en" altLang="zh-TW" sz="1000" b="0" dirty="0">
                      <a:effectLst/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(token) is True, "token expired prematurely"</a:t>
                  </a:r>
                </a:p>
                <a:p>
                  <a:r>
                    <a:rPr kumimoji="1" lang="en-US" altLang="zh-TW" sz="1000" dirty="0">
                      <a:latin typeface="Arial" panose="020B0604020202020204" pitchFamily="34" charset="0"/>
                      <a:ea typeface="BiauKaiTC Regular" panose="03000500000000000000" pitchFamily="66" charset="-120"/>
                      <a:cs typeface="Arial" panose="020B0604020202020204" pitchFamily="34" charset="0"/>
                    </a:rPr>
                    <a:t>…… more</a:t>
                  </a:r>
                  <a:endParaRPr kumimoji="1" lang="zh-TW" altLang="en-US" sz="1000" dirty="0">
                    <a:latin typeface="Arial" panose="020B0604020202020204" pitchFamily="34" charset="0"/>
                    <a:ea typeface="BiauKaiTC Regular" panose="03000500000000000000" pitchFamily="66" charset="-12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9FE27993-8A65-40F5-D612-3DF2DCE85D05}"/>
                </a:ext>
              </a:extLst>
            </p:cNvPr>
            <p:cNvSpPr txBox="1"/>
            <p:nvPr/>
          </p:nvSpPr>
          <p:spPr>
            <a:xfrm>
              <a:off x="938208" y="4492047"/>
              <a:ext cx="483329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en-US" altLang="zh-TW" dirty="0">
                  <a:latin typeface="Arial" panose="020B0604020202020204" pitchFamily="34" charset="0"/>
                  <a:ea typeface="BiauKaiTC Regular" panose="03000500000000000000" pitchFamily="66" charset="-120"/>
                  <a:cs typeface="Arial" panose="020B0604020202020204" pitchFamily="34" charset="0"/>
                </a:rPr>
                <a:t>Tool Call Results contains large logs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kumimoji="1" lang="en-US" altLang="zh-TW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en" altLang="zh-TW" dirty="0">
                  <a:latin typeface="Arial" panose="020B0604020202020204" pitchFamily="34" charset="0"/>
                  <a:ea typeface="BiauKaiTC Regular" panose="03000500000000000000" pitchFamily="66" charset="-120"/>
                  <a:cs typeface="Arial" panose="020B0604020202020204" pitchFamily="34" charset="0"/>
                </a:rPr>
                <a:t>It occupy and squeeze the context window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kumimoji="1" lang="en" altLang="zh-TW" dirty="0"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en" altLang="zh-TW" dirty="0">
                  <a:latin typeface="Arial" panose="020B0604020202020204" pitchFamily="34" charset="0"/>
                  <a:ea typeface="BiauKaiTC Regular" panose="03000500000000000000" pitchFamily="66" charset="-120"/>
                  <a:cs typeface="Arial" panose="020B0604020202020204" pitchFamily="34" charset="0"/>
                </a:rPr>
                <a:t>Therefore, tool call results should not be directly appended to the context window</a:t>
              </a:r>
            </a:p>
          </p:txBody>
        </p: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A6DEDC9-3289-A7B0-1FE3-C4028750670F}"/>
              </a:ext>
            </a:extLst>
          </p:cNvPr>
          <p:cNvSpPr txBox="1"/>
          <p:nvPr/>
        </p:nvSpPr>
        <p:spPr>
          <a:xfrm>
            <a:off x="7240494" y="5828358"/>
            <a:ext cx="288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800" i="0" u="none" strike="noStrike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BiauKaiTC Regular" panose="03000500000000000000" pitchFamily="66" charset="-120"/>
                <a:cs typeface="Arial" panose="020B0604020202020204" pitchFamily="34" charset="0"/>
              </a:rPr>
              <a:t>Ex: Total token=9,609</a:t>
            </a:r>
            <a:endParaRPr lang="zh-TW" altLang="en-US" dirty="0">
              <a:latin typeface="Arial" panose="020B0604020202020204" pitchFamily="34" charset="0"/>
              <a:ea typeface="BiauKaiTC Regular" panose="03000500000000000000" pitchFamily="66" charset="-120"/>
              <a:cs typeface="Arial" panose="020B0604020202020204" pitchFamily="34" charset="0"/>
            </a:endParaRPr>
          </a:p>
        </p:txBody>
      </p:sp>
      <p:sp>
        <p:nvSpPr>
          <p:cNvPr id="35" name="向下箭號 34">
            <a:extLst>
              <a:ext uri="{FF2B5EF4-FFF2-40B4-BE49-F238E27FC236}">
                <a16:creationId xmlns:a16="http://schemas.microsoft.com/office/drawing/2014/main" id="{57CD3B4D-1123-9F04-63CC-20AC31062710}"/>
              </a:ext>
            </a:extLst>
          </p:cNvPr>
          <p:cNvSpPr/>
          <p:nvPr/>
        </p:nvSpPr>
        <p:spPr>
          <a:xfrm>
            <a:off x="8383600" y="5463719"/>
            <a:ext cx="297054" cy="413553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Arial" panose="020B0604020202020204" pitchFamily="34" charset="0"/>
              <a:ea typeface="BiauKaiTC Regular" panose="03000500000000000000" pitchFamily="66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66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752D37-7736-1C1C-C4FC-4216DB83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19" y="23821"/>
            <a:ext cx="10971372" cy="1143000"/>
          </a:xfrm>
        </p:spPr>
        <p:txBody>
          <a:bodyPr anchor="ctr"/>
          <a:lstStyle/>
          <a:p>
            <a:r>
              <a:rPr kumimoji="1" lang="en" altLang="zh-TW" sz="4000" dirty="0">
                <a:latin typeface="Arial" panose="020B0604020202020204" pitchFamily="34" charset="0"/>
                <a:cs typeface="Arial" panose="020B0604020202020204" pitchFamily="34" charset="0"/>
              </a:rPr>
              <a:t>Existing Ways to Handle Large Tool Outputs</a:t>
            </a:r>
            <a:endParaRPr kumimoji="1" lang="zh-TW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EEE686-7E0B-D588-D5FE-80A95E1B06A3}"/>
              </a:ext>
            </a:extLst>
          </p:cNvPr>
          <p:cNvSpPr txBox="1"/>
          <p:nvPr/>
        </p:nvSpPr>
        <p:spPr>
          <a:xfrm>
            <a:off x="190549" y="40787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Our Approach: Artifact Store</a:t>
            </a:r>
            <a:endParaRPr lang="zh-TW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BDC64E5-E2C7-A516-55E9-1543B4E635BC}"/>
              </a:ext>
            </a:extLst>
          </p:cNvPr>
          <p:cNvSpPr txBox="1"/>
          <p:nvPr/>
        </p:nvSpPr>
        <p:spPr>
          <a:xfrm>
            <a:off x="838622" y="4650971"/>
            <a:ext cx="1008111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Build an SQLite DB to store the important evidence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Create A Sub-Agent and delegate it to solve the user 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When delegating Sub-agent, we also create a grant simultaneously to limit the reading scope and token budget that sub-agent can read and consume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2B52969-CE40-7360-54D6-34AB3FFC3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372206"/>
              </p:ext>
            </p:extLst>
          </p:nvPr>
        </p:nvGraphicFramePr>
        <p:xfrm>
          <a:off x="190549" y="1166821"/>
          <a:ext cx="11809311" cy="28013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6437">
                  <a:extLst>
                    <a:ext uri="{9D8B030D-6E8A-4147-A177-3AD203B41FA5}">
                      <a16:colId xmlns:a16="http://schemas.microsoft.com/office/drawing/2014/main" val="3610806756"/>
                    </a:ext>
                  </a:extLst>
                </a:gridCol>
                <a:gridCol w="3936437">
                  <a:extLst>
                    <a:ext uri="{9D8B030D-6E8A-4147-A177-3AD203B41FA5}">
                      <a16:colId xmlns:a16="http://schemas.microsoft.com/office/drawing/2014/main" val="1893156968"/>
                    </a:ext>
                  </a:extLst>
                </a:gridCol>
                <a:gridCol w="3936437">
                  <a:extLst>
                    <a:ext uri="{9D8B030D-6E8A-4147-A177-3AD203B41FA5}">
                      <a16:colId xmlns:a16="http://schemas.microsoft.com/office/drawing/2014/main" val="2282503699"/>
                    </a:ext>
                  </a:extLst>
                </a:gridCol>
              </a:tblGrid>
              <a:tr h="507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Approach</a:t>
                      </a:r>
                      <a:endParaRPr lang="zh-TW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zh-TW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failure mode</a:t>
                      </a:r>
                      <a:endParaRPr lang="zh-TW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9931617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Raw accumulation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eep</a:t>
                      </a:r>
                      <a:r>
                        <a:rPr lang="en-US" altLang="zh-TW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</a:t>
                      </a:r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tool outputs in context.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 information but pollute context</a:t>
                      </a:r>
                      <a:endParaRPr lang="zh-TW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503440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Truncation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emove or hide older observations.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Loses evidence past the cap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4937728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Summarization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ompress tool history into summaries.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Hallucinates or omits the decisive 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660539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/>
                      <a:r>
                        <a:rPr lang="en" altLang="zh-TW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Retrieval / memory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tore external information and retrieve relevant chunks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Exact evidence unrecoverable in parent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810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716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A8B4896-A7DA-44CE-995E-D85A834D5880}"/>
              </a:ext>
            </a:extLst>
          </p:cNvPr>
          <p:cNvSpPr/>
          <p:nvPr/>
        </p:nvSpPr>
        <p:spPr>
          <a:xfrm>
            <a:off x="118542" y="5383050"/>
            <a:ext cx="11953328" cy="147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0752D37-7736-1C1C-C4FC-4216DB83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20" y="118258"/>
            <a:ext cx="10971372" cy="1143000"/>
          </a:xfrm>
        </p:spPr>
        <p:txBody>
          <a:bodyPr anchor="ctr"/>
          <a:lstStyle/>
          <a:p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Harness: </a:t>
            </a:r>
            <a:r>
              <a:rPr lang="en" altLang="zh-TW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Agent Loop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88A03C-14A6-D1E6-9808-63C2D22A717D}"/>
              </a:ext>
            </a:extLst>
          </p:cNvPr>
          <p:cNvSpPr/>
          <p:nvPr/>
        </p:nvSpPr>
        <p:spPr>
          <a:xfrm>
            <a:off x="1054646" y="1436108"/>
            <a:ext cx="1656184" cy="7958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885B6-82F9-52E6-D1D9-17EA24158014}"/>
              </a:ext>
            </a:extLst>
          </p:cNvPr>
          <p:cNvSpPr/>
          <p:nvPr/>
        </p:nvSpPr>
        <p:spPr>
          <a:xfrm>
            <a:off x="4799062" y="1436108"/>
            <a:ext cx="1653530" cy="7958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8BF6A5C7-E1E6-F2EB-6870-B1D9CF21E720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625827" y="2231947"/>
            <a:ext cx="0" cy="40496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A2B09E96-646D-7813-9C1C-9ECBE35F1A5D}"/>
              </a:ext>
            </a:extLst>
          </p:cNvPr>
          <p:cNvGrpSpPr/>
          <p:nvPr/>
        </p:nvGrpSpPr>
        <p:grpSpPr>
          <a:xfrm>
            <a:off x="4799062" y="2636912"/>
            <a:ext cx="1656184" cy="1047867"/>
            <a:chOff x="4799062" y="2636912"/>
            <a:chExt cx="1656184" cy="1047867"/>
          </a:xfrm>
        </p:grpSpPr>
        <p:sp>
          <p:nvSpPr>
            <p:cNvPr id="11" name="菱形 10">
              <a:extLst>
                <a:ext uri="{FF2B5EF4-FFF2-40B4-BE49-F238E27FC236}">
                  <a16:creationId xmlns:a16="http://schemas.microsoft.com/office/drawing/2014/main" id="{C81DFA1D-1193-B11E-B808-AC19B348FA63}"/>
                </a:ext>
              </a:extLst>
            </p:cNvPr>
            <p:cNvSpPr/>
            <p:nvPr/>
          </p:nvSpPr>
          <p:spPr>
            <a:xfrm>
              <a:off x="4799062" y="2636912"/>
              <a:ext cx="1656184" cy="1047867"/>
            </a:xfrm>
            <a:prstGeom prst="diamond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E7D6703-DD13-3094-CA69-125B875ED1CC}"/>
                </a:ext>
              </a:extLst>
            </p:cNvPr>
            <p:cNvSpPr txBox="1"/>
            <p:nvPr/>
          </p:nvSpPr>
          <p:spPr>
            <a:xfrm>
              <a:off x="4907074" y="2976179"/>
              <a:ext cx="1437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" altLang="zh-TW" dirty="0">
                  <a:latin typeface="Arial" panose="020B0604020202020204" pitchFamily="34" charset="0"/>
                  <a:cs typeface="Arial" panose="020B0604020202020204" pitchFamily="34" charset="0"/>
                </a:rPr>
                <a:t>Stop reason</a:t>
              </a:r>
              <a:endParaRPr kumimoji="1" lang="zh-TW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AC13B2F-5A3F-B2F1-BE8E-B891C69576E8}"/>
              </a:ext>
            </a:extLst>
          </p:cNvPr>
          <p:cNvSpPr txBox="1"/>
          <p:nvPr/>
        </p:nvSpPr>
        <p:spPr>
          <a:xfrm>
            <a:off x="3820411" y="3557461"/>
            <a:ext cx="1149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>
                <a:latin typeface="Arial" panose="020B0604020202020204" pitchFamily="34" charset="0"/>
                <a:cs typeface="Arial" panose="020B0604020202020204" pitchFamily="34" charset="0"/>
              </a:rPr>
              <a:t>Tool_use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926723B5-9474-CCEA-1496-D33F020EB77D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3178422" y="3441725"/>
            <a:ext cx="2027705" cy="73459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曲線接點 67">
            <a:extLst>
              <a:ext uri="{FF2B5EF4-FFF2-40B4-BE49-F238E27FC236}">
                <a16:creationId xmlns:a16="http://schemas.microsoft.com/office/drawing/2014/main" id="{73E169C3-8801-8F36-BE3A-60E4B04A845D}"/>
              </a:ext>
            </a:extLst>
          </p:cNvPr>
          <p:cNvCxnSpPr>
            <a:cxnSpLocks/>
            <a:stCxn id="5" idx="0"/>
            <a:endCxn id="4" idx="1"/>
          </p:cNvCxnSpPr>
          <p:nvPr/>
        </p:nvCxnSpPr>
        <p:spPr>
          <a:xfrm rot="5400000" flipH="1" flipV="1">
            <a:off x="2631518" y="1684738"/>
            <a:ext cx="2018254" cy="231683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線箭頭接點 77">
            <a:extLst>
              <a:ext uri="{FF2B5EF4-FFF2-40B4-BE49-F238E27FC236}">
                <a16:creationId xmlns:a16="http://schemas.microsoft.com/office/drawing/2014/main" id="{BD709580-1EED-2F57-46DC-28B913E02CF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710830" y="1834028"/>
            <a:ext cx="2088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線箭頭接點 85">
            <a:extLst>
              <a:ext uri="{FF2B5EF4-FFF2-40B4-BE49-F238E27FC236}">
                <a16:creationId xmlns:a16="http://schemas.microsoft.com/office/drawing/2014/main" id="{D1849123-CAEC-7C6D-BF01-12DB7372761A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6085852" y="3418844"/>
            <a:ext cx="1012235" cy="6805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D85C7341-7E07-7B2D-EB92-6E7083153C22}"/>
              </a:ext>
            </a:extLst>
          </p:cNvPr>
          <p:cNvSpPr/>
          <p:nvPr/>
        </p:nvSpPr>
        <p:spPr>
          <a:xfrm>
            <a:off x="7098087" y="3775354"/>
            <a:ext cx="1392388" cy="6480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5BECFA91-1A42-1965-A8F5-2B41DCFFFED9}"/>
              </a:ext>
            </a:extLst>
          </p:cNvPr>
          <p:cNvSpPr txBox="1"/>
          <p:nvPr/>
        </p:nvSpPr>
        <p:spPr>
          <a:xfrm>
            <a:off x="5931415" y="3485081"/>
            <a:ext cx="122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>
                <a:latin typeface="Arial" panose="020B0604020202020204" pitchFamily="34" charset="0"/>
                <a:cs typeface="Arial" panose="020B0604020202020204" pitchFamily="34" charset="0"/>
              </a:rPr>
              <a:t>Final_text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3" name="直線箭頭接點 92">
            <a:extLst>
              <a:ext uri="{FF2B5EF4-FFF2-40B4-BE49-F238E27FC236}">
                <a16:creationId xmlns:a16="http://schemas.microsoft.com/office/drawing/2014/main" id="{9DF2E708-9613-945C-C775-D523E8904D86}"/>
              </a:ext>
            </a:extLst>
          </p:cNvPr>
          <p:cNvCxnSpPr>
            <a:cxnSpLocks/>
            <a:stCxn id="87" idx="3"/>
            <a:endCxn id="94" idx="1"/>
          </p:cNvCxnSpPr>
          <p:nvPr/>
        </p:nvCxnSpPr>
        <p:spPr>
          <a:xfrm flipV="1">
            <a:off x="8490475" y="4082699"/>
            <a:ext cx="1217710" cy="16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矩形 93">
            <a:extLst>
              <a:ext uri="{FF2B5EF4-FFF2-40B4-BE49-F238E27FC236}">
                <a16:creationId xmlns:a16="http://schemas.microsoft.com/office/drawing/2014/main" id="{65040A3A-FD33-3DB6-5BF1-9D88F11636B0}"/>
              </a:ext>
            </a:extLst>
          </p:cNvPr>
          <p:cNvSpPr/>
          <p:nvPr/>
        </p:nvSpPr>
        <p:spPr>
          <a:xfrm>
            <a:off x="9708185" y="3684779"/>
            <a:ext cx="1656184" cy="7958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13FFDB0E-8A21-64B5-D102-83FF136A0634}"/>
              </a:ext>
            </a:extLst>
          </p:cNvPr>
          <p:cNvGrpSpPr/>
          <p:nvPr/>
        </p:nvGrpSpPr>
        <p:grpSpPr>
          <a:xfrm>
            <a:off x="541816" y="3852282"/>
            <a:ext cx="3965098" cy="2034099"/>
            <a:chOff x="1772397" y="3946229"/>
            <a:chExt cx="3965098" cy="2034099"/>
          </a:xfrm>
        </p:grpSpPr>
        <p:sp>
          <p:nvSpPr>
            <p:cNvPr id="109" name="不規則四邊形 108">
              <a:extLst>
                <a:ext uri="{FF2B5EF4-FFF2-40B4-BE49-F238E27FC236}">
                  <a16:creationId xmlns:a16="http://schemas.microsoft.com/office/drawing/2014/main" id="{209C1008-7B5D-BAFC-BCD2-FBDB3BF38206}"/>
                </a:ext>
              </a:extLst>
            </p:cNvPr>
            <p:cNvSpPr/>
            <p:nvPr/>
          </p:nvSpPr>
          <p:spPr>
            <a:xfrm>
              <a:off x="1906981" y="4540254"/>
              <a:ext cx="3635077" cy="605677"/>
            </a:xfrm>
            <a:prstGeom prst="trapezoid">
              <a:avLst>
                <a:gd name="adj" fmla="val 242263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call function </a:t>
              </a:r>
            </a:p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based on LLM reply</a:t>
              </a:r>
              <a:endParaRPr kumimoji="1" lang="zh-TW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8" name="群組 107">
              <a:extLst>
                <a:ext uri="{FF2B5EF4-FFF2-40B4-BE49-F238E27FC236}">
                  <a16:creationId xmlns:a16="http://schemas.microsoft.com/office/drawing/2014/main" id="{AF87525B-41A8-2B8B-7769-34650C594F72}"/>
                </a:ext>
              </a:extLst>
            </p:cNvPr>
            <p:cNvGrpSpPr/>
            <p:nvPr/>
          </p:nvGrpSpPr>
          <p:grpSpPr>
            <a:xfrm>
              <a:off x="1772397" y="5139265"/>
              <a:ext cx="3965098" cy="841063"/>
              <a:chOff x="443905" y="4803437"/>
              <a:chExt cx="3965098" cy="841063"/>
            </a:xfrm>
          </p:grpSpPr>
          <p:sp>
            <p:nvSpPr>
              <p:cNvPr id="97" name="圓角矩形 96">
                <a:extLst>
                  <a:ext uri="{FF2B5EF4-FFF2-40B4-BE49-F238E27FC236}">
                    <a16:creationId xmlns:a16="http://schemas.microsoft.com/office/drawing/2014/main" id="{2DAD6182-908A-58C4-C4B6-7461A02B0EB8}"/>
                  </a:ext>
                </a:extLst>
              </p:cNvPr>
              <p:cNvSpPr/>
              <p:nvPr/>
            </p:nvSpPr>
            <p:spPr>
              <a:xfrm>
                <a:off x="443905" y="4803437"/>
                <a:ext cx="3965098" cy="841063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075093BA-F93D-C5E6-BDA8-10B7EDF42BEC}"/>
                  </a:ext>
                </a:extLst>
              </p:cNvPr>
              <p:cNvSpPr/>
              <p:nvPr/>
            </p:nvSpPr>
            <p:spPr>
              <a:xfrm>
                <a:off x="547298" y="5034560"/>
                <a:ext cx="1014696" cy="46362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Tool 1</a:t>
                </a:r>
                <a:endParaRPr kumimoji="1" lang="zh-TW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13673E89-7CE0-08E8-B9CB-E2783C9DB52E}"/>
                  </a:ext>
                </a:extLst>
              </p:cNvPr>
              <p:cNvSpPr/>
              <p:nvPr/>
            </p:nvSpPr>
            <p:spPr>
              <a:xfrm>
                <a:off x="1635824" y="5033294"/>
                <a:ext cx="1014696" cy="46362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Tool 2</a:t>
                </a:r>
                <a:endParaRPr kumimoji="1" lang="zh-TW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CC1CF29A-2C8A-A663-6142-9CCB66572A8C}"/>
                  </a:ext>
                </a:extLst>
              </p:cNvPr>
              <p:cNvSpPr/>
              <p:nvPr/>
            </p:nvSpPr>
            <p:spPr>
              <a:xfrm>
                <a:off x="2724350" y="5030687"/>
                <a:ext cx="1014696" cy="46362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Tool 3</a:t>
                </a:r>
                <a:endParaRPr kumimoji="1" lang="zh-TW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9672CC63-0E99-EBB4-9293-F21FEAEC4E8D}"/>
                  </a:ext>
                </a:extLst>
              </p:cNvPr>
              <p:cNvSpPr txBox="1"/>
              <p:nvPr/>
            </p:nvSpPr>
            <p:spPr>
              <a:xfrm>
                <a:off x="3848783" y="5022203"/>
                <a:ext cx="5073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  <a:endParaRPr kumimoji="1" lang="zh-TW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A55C2CC-FE00-1A5E-0782-8BD97BFDB0B6}"/>
                </a:ext>
              </a:extLst>
            </p:cNvPr>
            <p:cNvSpPr/>
            <p:nvPr/>
          </p:nvSpPr>
          <p:spPr>
            <a:xfrm>
              <a:off x="3016615" y="3946229"/>
              <a:ext cx="1392388" cy="648072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Harness </a:t>
              </a:r>
            </a:p>
          </p:txBody>
        </p:sp>
      </p:grpSp>
      <p:sp>
        <p:nvSpPr>
          <p:cNvPr id="13" name="左-右雙向箭號 12">
            <a:extLst>
              <a:ext uri="{FF2B5EF4-FFF2-40B4-BE49-F238E27FC236}">
                <a16:creationId xmlns:a16="http://schemas.microsoft.com/office/drawing/2014/main" id="{1FCC20C8-EBB0-F5CC-12F0-245FBDAD3BBB}"/>
              </a:ext>
            </a:extLst>
          </p:cNvPr>
          <p:cNvSpPr/>
          <p:nvPr/>
        </p:nvSpPr>
        <p:spPr>
          <a:xfrm>
            <a:off x="4584844" y="5447966"/>
            <a:ext cx="1455796" cy="353144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不規則四邊形 14">
            <a:extLst>
              <a:ext uri="{FF2B5EF4-FFF2-40B4-BE49-F238E27FC236}">
                <a16:creationId xmlns:a16="http://schemas.microsoft.com/office/drawing/2014/main" id="{F88325D4-6A9C-B6D2-F77A-64FE5EE0B0D1}"/>
              </a:ext>
            </a:extLst>
          </p:cNvPr>
          <p:cNvSpPr/>
          <p:nvPr/>
        </p:nvSpPr>
        <p:spPr>
          <a:xfrm rot="16200000">
            <a:off x="6302916" y="5410573"/>
            <a:ext cx="1636796" cy="396055"/>
          </a:xfrm>
          <a:prstGeom prst="trapezoid">
            <a:avLst>
              <a:gd name="adj" fmla="val 13886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7AC838-A361-8ECE-D1F6-C874D830ED2B}"/>
              </a:ext>
            </a:extLst>
          </p:cNvPr>
          <p:cNvSpPr/>
          <p:nvPr/>
        </p:nvSpPr>
        <p:spPr>
          <a:xfrm>
            <a:off x="7355891" y="4730771"/>
            <a:ext cx="4464321" cy="17713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弧線 37">
            <a:extLst>
              <a:ext uri="{FF2B5EF4-FFF2-40B4-BE49-F238E27FC236}">
                <a16:creationId xmlns:a16="http://schemas.microsoft.com/office/drawing/2014/main" id="{B653191E-2B64-C8C6-EB4A-53E17ED7C301}"/>
              </a:ext>
            </a:extLst>
          </p:cNvPr>
          <p:cNvSpPr/>
          <p:nvPr/>
        </p:nvSpPr>
        <p:spPr>
          <a:xfrm>
            <a:off x="3446781" y="2345237"/>
            <a:ext cx="1149470" cy="1017091"/>
          </a:xfrm>
          <a:prstGeom prst="arc">
            <a:avLst>
              <a:gd name="adj1" fmla="val 16200000"/>
              <a:gd name="adj2" fmla="val 11564914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A39EB2E-E62E-1D0D-86B0-8E93263A9107}"/>
              </a:ext>
            </a:extLst>
          </p:cNvPr>
          <p:cNvSpPr txBox="1"/>
          <p:nvPr/>
        </p:nvSpPr>
        <p:spPr>
          <a:xfrm>
            <a:off x="3545529" y="2704003"/>
            <a:ext cx="1293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Agent loop</a:t>
            </a:r>
            <a:endParaRPr kumimoji="1"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1470F7D-E49C-B9CE-10C2-88C6E206975D}"/>
              </a:ext>
            </a:extLst>
          </p:cNvPr>
          <p:cNvSpPr txBox="1"/>
          <p:nvPr/>
        </p:nvSpPr>
        <p:spPr>
          <a:xfrm>
            <a:off x="8390735" y="4761158"/>
            <a:ext cx="239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Artifact Store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6071B88F-F768-341B-2E37-AC39FA8DAB66}"/>
              </a:ext>
            </a:extLst>
          </p:cNvPr>
          <p:cNvCxnSpPr/>
          <p:nvPr/>
        </p:nvCxnSpPr>
        <p:spPr>
          <a:xfrm>
            <a:off x="7355892" y="5130490"/>
            <a:ext cx="38295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群組 6">
            <a:extLst>
              <a:ext uri="{FF2B5EF4-FFF2-40B4-BE49-F238E27FC236}">
                <a16:creationId xmlns:a16="http://schemas.microsoft.com/office/drawing/2014/main" id="{C8BE9930-1990-2DC3-7223-8F48103A6B0D}"/>
              </a:ext>
            </a:extLst>
          </p:cNvPr>
          <p:cNvGrpSpPr/>
          <p:nvPr/>
        </p:nvGrpSpPr>
        <p:grpSpPr>
          <a:xfrm>
            <a:off x="5898114" y="4956427"/>
            <a:ext cx="1226308" cy="1226308"/>
            <a:chOff x="5898114" y="4956427"/>
            <a:chExt cx="1226308" cy="1226308"/>
          </a:xfrm>
        </p:grpSpPr>
        <p:pic>
          <p:nvPicPr>
            <p:cNvPr id="8" name="圖形 7" descr="資料庫 以實心填滿">
              <a:extLst>
                <a:ext uri="{FF2B5EF4-FFF2-40B4-BE49-F238E27FC236}">
                  <a16:creationId xmlns:a16="http://schemas.microsoft.com/office/drawing/2014/main" id="{887248F2-1B05-A363-89B0-F2FA1C9BFC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98114" y="4956427"/>
              <a:ext cx="1226308" cy="1226308"/>
            </a:xfrm>
            <a:prstGeom prst="rect">
              <a:avLst/>
            </a:prstGeom>
          </p:spPr>
        </p:pic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1E09CBA4-E562-EC3A-CE55-6BC7857FB15D}"/>
                </a:ext>
              </a:extLst>
            </p:cNvPr>
            <p:cNvSpPr txBox="1"/>
            <p:nvPr/>
          </p:nvSpPr>
          <p:spPr>
            <a:xfrm>
              <a:off x="6069945" y="5405300"/>
              <a:ext cx="8826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SQLite</a:t>
              </a:r>
              <a:endParaRPr kumimoji="1" lang="zh-TW" altLang="en-US" dirty="0"/>
            </a:p>
          </p:txBody>
        </p:sp>
      </p:grp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19C4ED57-8A2F-69F9-6C7A-DCBBBAE1B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715872"/>
              </p:ext>
            </p:extLst>
          </p:nvPr>
        </p:nvGraphicFramePr>
        <p:xfrm>
          <a:off x="7353908" y="5130489"/>
          <a:ext cx="446630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3152">
                  <a:extLst>
                    <a:ext uri="{9D8B030D-6E8A-4147-A177-3AD203B41FA5}">
                      <a16:colId xmlns:a16="http://schemas.microsoft.com/office/drawing/2014/main" val="3673888865"/>
                    </a:ext>
                  </a:extLst>
                </a:gridCol>
                <a:gridCol w="2233152">
                  <a:extLst>
                    <a:ext uri="{9D8B030D-6E8A-4147-A177-3AD203B41FA5}">
                      <a16:colId xmlns:a16="http://schemas.microsoft.com/office/drawing/2014/main" val="1120552068"/>
                    </a:ext>
                  </a:extLst>
                </a:gridCol>
              </a:tblGrid>
              <a:tr h="2663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Artifact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/>
                        <a:t>每一筆</a:t>
                      </a:r>
                      <a:r>
                        <a:rPr lang="en-US" altLang="zh-TW" sz="1200" dirty="0"/>
                        <a:t>tool results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976865"/>
                  </a:ext>
                </a:extLst>
              </a:tr>
              <a:tr h="2663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Artifact Spans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/>
                        <a:t>從</a:t>
                      </a:r>
                      <a:r>
                        <a:rPr lang="en-US" altLang="zh-TW" sz="1200" dirty="0"/>
                        <a:t>Tool Results</a:t>
                      </a:r>
                      <a:r>
                        <a:rPr lang="zh-TW" altLang="en-US" sz="1200" dirty="0"/>
                        <a:t>分割出來的</a:t>
                      </a:r>
                      <a:r>
                        <a:rPr lang="en-US" altLang="zh-TW" sz="1200" dirty="0"/>
                        <a:t>spans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583441"/>
                  </a:ext>
                </a:extLst>
              </a:tr>
              <a:tr h="2663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Grants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/>
                        <a:t>門禁儲值卡資料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28976"/>
                  </a:ext>
                </a:extLst>
              </a:tr>
              <a:tr h="2663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Access Logs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/>
                        <a:t>存取得的紀錄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510824"/>
                  </a:ext>
                </a:extLst>
              </a:tr>
              <a:tr h="2663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Artifact Links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Artifact</a:t>
                      </a:r>
                      <a:r>
                        <a:rPr lang="zh-TW" altLang="en-US" sz="1200" dirty="0"/>
                        <a:t>之間的關聯資料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0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26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/>
      <p:bldP spid="87" grpId="0" animBg="1"/>
      <p:bldP spid="92" grpId="0"/>
      <p:bldP spid="94" grpId="0" animBg="1"/>
      <p:bldP spid="13" grpId="0" animBg="1"/>
      <p:bldP spid="15" grpId="0" animBg="1"/>
      <p:bldP spid="17" grpId="0" animBg="1"/>
      <p:bldP spid="38" grpId="0" animBg="1"/>
      <p:bldP spid="3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752D37-7736-1C1C-C4FC-4216DB83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20" y="118258"/>
            <a:ext cx="10971372" cy="1143000"/>
          </a:xfrm>
        </p:spPr>
        <p:txBody>
          <a:bodyPr anchor="ctr"/>
          <a:lstStyle/>
          <a:p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Harness: Tool call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B8DF927-C254-ED6C-4610-C2A84F8C5540}"/>
              </a:ext>
            </a:extLst>
          </p:cNvPr>
          <p:cNvSpPr>
            <a:spLocks noGrp="1"/>
          </p:cNvSpPr>
          <p:nvPr/>
        </p:nvSpPr>
        <p:spPr>
          <a:xfrm>
            <a:off x="647700" y="1333500"/>
            <a:ext cx="4572000" cy="4000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439010A-ECBD-C4B5-3F2D-BB7F6C6F45D5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0203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LLM side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6840CA-0B57-B89B-AC8C-526B91041AB3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17203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The model does not call Python functions directly. It emits structured `</a:t>
            </a:r>
            <a:r>
              <a:rPr sz="1600" b="0" dirty="0" err="1">
                <a:solidFill>
                  <a:srgbClr val="17203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tool_use</a:t>
            </a:r>
            <a:r>
              <a:rPr sz="1600" b="0" dirty="0">
                <a:solidFill>
                  <a:srgbClr val="17203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` requests such as: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69E5DD3-52E2-AADC-259B-46CE5048A017}"/>
              </a:ext>
            </a:extLst>
          </p:cNvPr>
          <p:cNvSpPr>
            <a:spLocks noGrp="1"/>
          </p:cNvSpPr>
          <p:nvPr/>
        </p:nvSpPr>
        <p:spPr>
          <a:xfrm>
            <a:off x="915359" y="3215604"/>
            <a:ext cx="3695700" cy="1564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83B7A49-AFE5-1C7E-5CEF-3808F139E4D6}"/>
              </a:ext>
            </a:extLst>
          </p:cNvPr>
          <p:cNvSpPr>
            <a:spLocks noGrp="1"/>
          </p:cNvSpPr>
          <p:nvPr/>
        </p:nvSpPr>
        <p:spPr>
          <a:xfrm>
            <a:off x="1143959" y="3425154"/>
            <a:ext cx="3143250" cy="123953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033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 err="1">
                <a:solidFill>
                  <a:srgbClr val="102033"/>
                </a:solidFill>
                <a:latin typeface="Arial" panose="020B0604020202020204" pitchFamily="34" charset="0"/>
                <a:ea typeface="Aptos Mono"/>
                <a:cs typeface="Arial" panose="020B0604020202020204" pitchFamily="34" charset="0"/>
              </a:rPr>
              <a:t>tool_name</a:t>
            </a:r>
            <a:r>
              <a:rPr sz="1600" b="0" dirty="0">
                <a:solidFill>
                  <a:srgbClr val="102033"/>
                </a:solidFill>
                <a:latin typeface="Arial" panose="020B0604020202020204" pitchFamily="34" charset="0"/>
                <a:ea typeface="Aptos Mono"/>
                <a:cs typeface="Arial" panose="020B0604020202020204" pitchFamily="34" charset="0"/>
              </a:rPr>
              <a:t>: </a:t>
            </a:r>
            <a:r>
              <a:rPr sz="1600" b="0" dirty="0" err="1">
                <a:solidFill>
                  <a:srgbClr val="102033"/>
                </a:solidFill>
                <a:latin typeface="Arial" panose="020B0604020202020204" pitchFamily="34" charset="0"/>
                <a:ea typeface="Aptos Mono"/>
                <a:cs typeface="Arial" panose="020B0604020202020204" pitchFamily="34" charset="0"/>
              </a:rPr>
              <a:t>artifact_expand_view</a:t>
            </a:r>
            <a:endParaRPr sz="1600" b="0" dirty="0">
              <a:solidFill>
                <a:srgbClr val="102033"/>
              </a:solidFill>
              <a:latin typeface="Arial" panose="020B0604020202020204" pitchFamily="34" charset="0"/>
              <a:ea typeface="Aptos Mono"/>
              <a:cs typeface="Arial" panose="020B0604020202020204" pitchFamily="34" charset="0"/>
            </a:endParaRPr>
          </a:p>
          <a:p>
            <a:pPr algn="l">
              <a:defRPr sz="1275" b="0">
                <a:solidFill>
                  <a:srgbClr val="102033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102033"/>
                </a:solidFill>
                <a:latin typeface="Arial" panose="020B0604020202020204" pitchFamily="34" charset="0"/>
                <a:ea typeface="Aptos Mono"/>
                <a:cs typeface="Arial" panose="020B0604020202020204" pitchFamily="34" charset="0"/>
              </a:rPr>
              <a:t>input: {</a:t>
            </a:r>
          </a:p>
          <a:p>
            <a:pPr algn="l">
              <a:defRPr sz="1275" b="0">
                <a:solidFill>
                  <a:srgbClr val="102033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102033"/>
                </a:solidFill>
                <a:latin typeface="Arial" panose="020B0604020202020204" pitchFamily="34" charset="0"/>
                <a:ea typeface="Aptos Mono"/>
                <a:cs typeface="Arial" panose="020B0604020202020204" pitchFamily="34" charset="0"/>
              </a:rPr>
              <a:t>  </a:t>
            </a:r>
            <a:r>
              <a:rPr sz="1600" b="0" dirty="0" err="1">
                <a:solidFill>
                  <a:srgbClr val="102033"/>
                </a:solidFill>
                <a:latin typeface="Arial" panose="020B0604020202020204" pitchFamily="34" charset="0"/>
                <a:ea typeface="Aptos Mono"/>
                <a:cs typeface="Arial" panose="020B0604020202020204" pitchFamily="34" charset="0"/>
              </a:rPr>
              <a:t>artifact_id</a:t>
            </a:r>
            <a:r>
              <a:rPr sz="1600" b="0" dirty="0">
                <a:solidFill>
                  <a:srgbClr val="102033"/>
                </a:solidFill>
                <a:latin typeface="Arial" panose="020B0604020202020204" pitchFamily="34" charset="0"/>
                <a:ea typeface="Aptos Mono"/>
                <a:cs typeface="Arial" panose="020B0604020202020204" pitchFamily="34" charset="0"/>
              </a:rPr>
              <a:t>: art_...,</a:t>
            </a:r>
          </a:p>
          <a:p>
            <a:pPr algn="l">
              <a:defRPr sz="1275" b="0">
                <a:solidFill>
                  <a:srgbClr val="102033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102033"/>
                </a:solidFill>
                <a:latin typeface="Arial" panose="020B0604020202020204" pitchFamily="34" charset="0"/>
                <a:ea typeface="Aptos Mono"/>
                <a:cs typeface="Arial" panose="020B0604020202020204" pitchFamily="34" charset="0"/>
              </a:rPr>
              <a:t>  view: evidence</a:t>
            </a:r>
          </a:p>
          <a:p>
            <a:pPr algn="l">
              <a:defRPr sz="1275" b="0">
                <a:solidFill>
                  <a:srgbClr val="102033"/>
                </a:solidFill>
                <a:latin typeface="Aptos Mono"/>
                <a:ea typeface="Aptos Mono"/>
                <a:cs typeface="Aptos Mono"/>
              </a:defRPr>
            </a:pPr>
            <a:r>
              <a:rPr sz="1600" b="0" dirty="0">
                <a:solidFill>
                  <a:srgbClr val="102033"/>
                </a:solidFill>
                <a:latin typeface="Arial" panose="020B0604020202020204" pitchFamily="34" charset="0"/>
                <a:ea typeface="Aptos Mono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9A791A2-ED94-C95C-20FA-65E0EDE0C292}"/>
              </a:ext>
            </a:extLst>
          </p:cNvPr>
          <p:cNvSpPr>
            <a:spLocks noGrp="1"/>
          </p:cNvSpPr>
          <p:nvPr/>
        </p:nvSpPr>
        <p:spPr>
          <a:xfrm>
            <a:off x="2362200" y="1647825"/>
            <a:ext cx="1352550" cy="266700"/>
          </a:xfrm>
          <a:prstGeom prst="rect">
            <a:avLst/>
          </a:prstGeom>
          <a:solidFill>
            <a:srgbClr val="E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4F07F4-F6BE-2B2E-708D-F49DA8149089}"/>
              </a:ext>
            </a:extLst>
          </p:cNvPr>
          <p:cNvSpPr>
            <a:spLocks noGrp="1"/>
          </p:cNvSpPr>
          <p:nvPr/>
        </p:nvSpPr>
        <p:spPr>
          <a:xfrm>
            <a:off x="2476500" y="1704975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78C98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78C98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decision maker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82F61BA-57BB-B54E-A12F-168B8EEE4A77}"/>
              </a:ext>
            </a:extLst>
          </p:cNvPr>
          <p:cNvSpPr>
            <a:spLocks noGrp="1"/>
          </p:cNvSpPr>
          <p:nvPr/>
        </p:nvSpPr>
        <p:spPr>
          <a:xfrm>
            <a:off x="6496050" y="1333500"/>
            <a:ext cx="4572000" cy="4000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1C043A2-8B1A-2D9C-119C-07D10C9718E1}"/>
              </a:ext>
            </a:extLst>
          </p:cNvPr>
          <p:cNvSpPr>
            <a:spLocks noGrp="1"/>
          </p:cNvSpPr>
          <p:nvPr/>
        </p:nvSpPr>
        <p:spPr>
          <a:xfrm>
            <a:off x="6724650" y="15811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03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Harness side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849AF5E-BD69-FEBE-F713-564CF14D5E0C}"/>
              </a:ext>
            </a:extLst>
          </p:cNvPr>
          <p:cNvSpPr>
            <a:spLocks noGrp="1"/>
          </p:cNvSpPr>
          <p:nvPr/>
        </p:nvSpPr>
        <p:spPr>
          <a:xfrm>
            <a:off x="6724650" y="2019300"/>
            <a:ext cx="3714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203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The local Python harness validates the request, executes the function, enforces grants, and returns a safe summary.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9B54306-CB96-E14B-DA03-9EBC5358D1E8}"/>
              </a:ext>
            </a:extLst>
          </p:cNvPr>
          <p:cNvSpPr>
            <a:spLocks noGrp="1"/>
          </p:cNvSpPr>
          <p:nvPr/>
        </p:nvSpPr>
        <p:spPr>
          <a:xfrm>
            <a:off x="7083862" y="3026386"/>
            <a:ext cx="50626" cy="1847850"/>
          </a:xfrm>
          <a:prstGeom prst="rect">
            <a:avLst/>
          </a:prstGeom>
          <a:solidFill>
            <a:srgbClr val="0FB9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349A891-B7A2-B6F5-1396-8F6AA11FBDDE}"/>
              </a:ext>
            </a:extLst>
          </p:cNvPr>
          <p:cNvSpPr>
            <a:spLocks noGrp="1"/>
          </p:cNvSpPr>
          <p:nvPr/>
        </p:nvSpPr>
        <p:spPr>
          <a:xfrm>
            <a:off x="7248788" y="3026386"/>
            <a:ext cx="3048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44C1F52-B380-9B0E-C7F7-84A176187450}"/>
              </a:ext>
            </a:extLst>
          </p:cNvPr>
          <p:cNvSpPr>
            <a:spLocks noGrp="1"/>
          </p:cNvSpPr>
          <p:nvPr/>
        </p:nvSpPr>
        <p:spPr>
          <a:xfrm>
            <a:off x="7382138" y="3197836"/>
            <a:ext cx="95250" cy="95250"/>
          </a:xfrm>
          <a:prstGeom prst="rect">
            <a:avLst/>
          </a:prstGeom>
          <a:solidFill>
            <a:srgbClr val="0FB9C8"/>
          </a:solidFill>
          <a:ln w="0">
            <a:solidFill>
              <a:srgbClr val="0FB9C8"/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AC954AC-6422-D70D-CE4F-13BFCC5F39C5}"/>
              </a:ext>
            </a:extLst>
          </p:cNvPr>
          <p:cNvSpPr>
            <a:spLocks noGrp="1"/>
          </p:cNvSpPr>
          <p:nvPr/>
        </p:nvSpPr>
        <p:spPr>
          <a:xfrm>
            <a:off x="7553588" y="3140686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0203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1. Check grant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E6F7751-9CE6-5A21-5982-F5C7C761CBB7}"/>
              </a:ext>
            </a:extLst>
          </p:cNvPr>
          <p:cNvSpPr>
            <a:spLocks noGrp="1"/>
          </p:cNvSpPr>
          <p:nvPr/>
        </p:nvSpPr>
        <p:spPr>
          <a:xfrm>
            <a:off x="7553588" y="3407386"/>
            <a:ext cx="262890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B7280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operation, view, predicate, budget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97919DA-CCAE-5A5F-CE61-6A0F4C97E4AF}"/>
              </a:ext>
            </a:extLst>
          </p:cNvPr>
          <p:cNvSpPr>
            <a:spLocks noGrp="1"/>
          </p:cNvSpPr>
          <p:nvPr/>
        </p:nvSpPr>
        <p:spPr>
          <a:xfrm>
            <a:off x="7248788" y="3655036"/>
            <a:ext cx="3048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3A9D062-C9FD-4C15-CFC9-370AEFA7BED8}"/>
              </a:ext>
            </a:extLst>
          </p:cNvPr>
          <p:cNvSpPr>
            <a:spLocks noGrp="1"/>
          </p:cNvSpPr>
          <p:nvPr/>
        </p:nvSpPr>
        <p:spPr>
          <a:xfrm>
            <a:off x="7382138" y="3826486"/>
            <a:ext cx="95250" cy="952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82BDF2D-D675-46E1-9A2D-9C7A49627488}"/>
              </a:ext>
            </a:extLst>
          </p:cNvPr>
          <p:cNvSpPr>
            <a:spLocks noGrp="1"/>
          </p:cNvSpPr>
          <p:nvPr/>
        </p:nvSpPr>
        <p:spPr>
          <a:xfrm>
            <a:off x="7553588" y="3769336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0203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2. Run function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E6F2364-D208-E4D3-4161-D6F418E28904}"/>
              </a:ext>
            </a:extLst>
          </p:cNvPr>
          <p:cNvSpPr>
            <a:spLocks noGrp="1"/>
          </p:cNvSpPr>
          <p:nvPr/>
        </p:nvSpPr>
        <p:spPr>
          <a:xfrm>
            <a:off x="7553588" y="4036036"/>
            <a:ext cx="262890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B7280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query ArtifactStore / verify citation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9B85DB4-2329-71B8-EF8B-EA6D9F7D400F}"/>
              </a:ext>
            </a:extLst>
          </p:cNvPr>
          <p:cNvSpPr>
            <a:spLocks noGrp="1"/>
          </p:cNvSpPr>
          <p:nvPr/>
        </p:nvSpPr>
        <p:spPr>
          <a:xfrm>
            <a:off x="7248788" y="4283686"/>
            <a:ext cx="3048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FA38C51-627F-3579-5A25-3666163468BF}"/>
              </a:ext>
            </a:extLst>
          </p:cNvPr>
          <p:cNvSpPr>
            <a:spLocks noGrp="1"/>
          </p:cNvSpPr>
          <p:nvPr/>
        </p:nvSpPr>
        <p:spPr>
          <a:xfrm>
            <a:off x="7382138" y="4455136"/>
            <a:ext cx="95250" cy="9525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20C2E1D-AA77-2A56-7FF7-1C579A52ADFD}"/>
              </a:ext>
            </a:extLst>
          </p:cNvPr>
          <p:cNvSpPr>
            <a:spLocks noGrp="1"/>
          </p:cNvSpPr>
          <p:nvPr/>
        </p:nvSpPr>
        <p:spPr>
          <a:xfrm>
            <a:off x="7553588" y="4397986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0203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3. Return safe result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DE068A4-5110-DB7F-CFD1-7C89569ED71D}"/>
              </a:ext>
            </a:extLst>
          </p:cNvPr>
          <p:cNvSpPr>
            <a:spLocks noGrp="1"/>
          </p:cNvSpPr>
          <p:nvPr/>
        </p:nvSpPr>
        <p:spPr>
          <a:xfrm>
            <a:off x="7553588" y="4664686"/>
            <a:ext cx="262890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B7280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no raw output unless explicitly granted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FAC8776-6F58-B077-2E38-40FB57584638}"/>
              </a:ext>
            </a:extLst>
          </p:cNvPr>
          <p:cNvSpPr>
            <a:spLocks noGrp="1"/>
          </p:cNvSpPr>
          <p:nvPr/>
        </p:nvSpPr>
        <p:spPr>
          <a:xfrm>
            <a:off x="8772788" y="1647825"/>
            <a:ext cx="1352550" cy="266700"/>
          </a:xfrm>
          <a:prstGeom prst="rect">
            <a:avLst/>
          </a:prstGeom>
          <a:solidFill>
            <a:srgbClr val="FF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CF284B6-7A3C-52C5-E2DC-AB60EB74A7B6}"/>
              </a:ext>
            </a:extLst>
          </p:cNvPr>
          <p:cNvSpPr>
            <a:spLocks noGrp="1"/>
          </p:cNvSpPr>
          <p:nvPr/>
        </p:nvSpPr>
        <p:spPr>
          <a:xfrm>
            <a:off x="8887088" y="1704975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F97316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policy enforcer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CC0A375-CAED-0790-5A06-D56CAF4AE37E}"/>
              </a:ext>
            </a:extLst>
          </p:cNvPr>
          <p:cNvSpPr>
            <a:spLocks noGrp="1"/>
          </p:cNvSpPr>
          <p:nvPr/>
        </p:nvSpPr>
        <p:spPr>
          <a:xfrm>
            <a:off x="306304" y="5543550"/>
            <a:ext cx="10761746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b="1" dirty="0">
                <a:solidFill>
                  <a:srgbClr val="10203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In both supervisor and subagent loops, the LLM proposes actions; the harness is the trusted execution boundary.</a:t>
            </a:r>
          </a:p>
        </p:txBody>
      </p:sp>
      <p:sp>
        <p:nvSpPr>
          <p:cNvPr id="61" name="向下箭號 60">
            <a:extLst>
              <a:ext uri="{FF2B5EF4-FFF2-40B4-BE49-F238E27FC236}">
                <a16:creationId xmlns:a16="http://schemas.microsoft.com/office/drawing/2014/main" id="{D7308F3C-13D0-3419-BE54-527957AA25B3}"/>
              </a:ext>
            </a:extLst>
          </p:cNvPr>
          <p:cNvSpPr/>
          <p:nvPr/>
        </p:nvSpPr>
        <p:spPr>
          <a:xfrm rot="16200000">
            <a:off x="5672363" y="2908520"/>
            <a:ext cx="371025" cy="769130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latin typeface="Arial" panose="020B0604020202020204" pitchFamily="34" charset="0"/>
              <a:ea typeface="BiauKaiTC Regular" panose="03000500000000000000" pitchFamily="66" charset="-120"/>
              <a:cs typeface="Arial" panose="020B0604020202020204" pitchFamily="34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63DFCA0B-297E-8738-7C80-F877D870DE55}"/>
              </a:ext>
            </a:extLst>
          </p:cNvPr>
          <p:cNvSpPr txBox="1"/>
          <p:nvPr/>
        </p:nvSpPr>
        <p:spPr>
          <a:xfrm>
            <a:off x="5264541" y="3575240"/>
            <a:ext cx="1131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Tool Call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105C01-83FD-E155-2087-A12915FC1D2A}"/>
              </a:ext>
            </a:extLst>
          </p:cNvPr>
          <p:cNvSpPr>
            <a:spLocks noGrp="1"/>
          </p:cNvSpPr>
          <p:nvPr/>
        </p:nvSpPr>
        <p:spPr>
          <a:xfrm>
            <a:off x="3084548" y="4407511"/>
            <a:ext cx="1352550" cy="266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4C6A4B-099A-1F85-B694-1B22974642BD}"/>
              </a:ext>
            </a:extLst>
          </p:cNvPr>
          <p:cNvSpPr>
            <a:spLocks noGrp="1"/>
          </p:cNvSpPr>
          <p:nvPr/>
        </p:nvSpPr>
        <p:spPr>
          <a:xfrm>
            <a:off x="3198848" y="4464661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78C98"/>
                </a:solidFill>
                <a:latin typeface="Aptos"/>
                <a:ea typeface="Aptos"/>
                <a:cs typeface="Aptos"/>
              </a:defRPr>
            </a:pPr>
            <a:r>
              <a:rPr lang="en-US" sz="1050" b="1" dirty="0">
                <a:solidFill>
                  <a:srgbClr val="078C98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Jason schema</a:t>
            </a:r>
            <a:endParaRPr sz="1050" b="1" dirty="0">
              <a:solidFill>
                <a:srgbClr val="078C98"/>
              </a:solidFill>
              <a:latin typeface="Arial" panose="020B0604020202020204" pitchFamily="34" charset="0"/>
              <a:ea typeface="Aptos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915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377C4-5238-2645-BA4C-235AB342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7BBDF1-6B36-A98B-9648-4D8DD51F4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kumimoji="1" lang="en-US" altLang="zh-TW" dirty="0"/>
              <a:t>Agent Tools</a:t>
            </a:r>
            <a:endParaRPr kumimoji="1"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31C0F9-FAB6-4E3F-C0CE-581C1353F398}"/>
              </a:ext>
            </a:extLst>
          </p:cNvPr>
          <p:cNvSpPr/>
          <p:nvPr/>
        </p:nvSpPr>
        <p:spPr>
          <a:xfrm>
            <a:off x="766614" y="1417637"/>
            <a:ext cx="4680520" cy="38115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7B5FDD5-6B07-330F-2BCD-89A074FF5690}"/>
              </a:ext>
            </a:extLst>
          </p:cNvPr>
          <p:cNvSpPr txBox="1"/>
          <p:nvPr/>
        </p:nvSpPr>
        <p:spPr>
          <a:xfrm>
            <a:off x="766614" y="1417638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Supervisor Agent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A3A860-C8B9-18C2-03DF-99764FC45BC4}"/>
              </a:ext>
            </a:extLst>
          </p:cNvPr>
          <p:cNvSpPr/>
          <p:nvPr/>
        </p:nvSpPr>
        <p:spPr>
          <a:xfrm>
            <a:off x="861128" y="1894093"/>
            <a:ext cx="1653530" cy="7958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</a:t>
            </a:r>
          </a:p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FDE4F8-EC33-DC3F-8CC9-A17688E79CC1}"/>
              </a:ext>
            </a:extLst>
          </p:cNvPr>
          <p:cNvSpPr/>
          <p:nvPr/>
        </p:nvSpPr>
        <p:spPr>
          <a:xfrm>
            <a:off x="3675815" y="1887025"/>
            <a:ext cx="1653530" cy="79203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Harness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D574851A-C59C-1B59-78BD-8109DCD0E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372602"/>
              </p:ext>
            </p:extLst>
          </p:nvPr>
        </p:nvGraphicFramePr>
        <p:xfrm>
          <a:off x="832084" y="2957809"/>
          <a:ext cx="453650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252">
                  <a:extLst>
                    <a:ext uri="{9D8B030D-6E8A-4147-A177-3AD203B41FA5}">
                      <a16:colId xmlns:a16="http://schemas.microsoft.com/office/drawing/2014/main" val="3594403700"/>
                    </a:ext>
                  </a:extLst>
                </a:gridCol>
                <a:gridCol w="2268252">
                  <a:extLst>
                    <a:ext uri="{9D8B030D-6E8A-4147-A177-3AD203B41FA5}">
                      <a16:colId xmlns:a16="http://schemas.microsoft.com/office/drawing/2014/main" val="1712476183"/>
                    </a:ext>
                  </a:extLst>
                </a:gridCol>
              </a:tblGrid>
              <a:tr h="3112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Tool Name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Function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763374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Run_workload</a:t>
                      </a:r>
                      <a:endParaRPr kumimoji="1"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執行工具並存入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DB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71550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Create_grant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建立門禁儲值卡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477924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Delegate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委託子代理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115131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Expand_artifact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展開某個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VIEW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89431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Verify_citation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驗證子代理回傳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951921"/>
                  </a:ext>
                </a:extLst>
              </a:tr>
            </a:tbl>
          </a:graphicData>
        </a:graphic>
      </p:graphicFrame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FF45BFE3-18CC-7BB3-CB33-4EF632A94FA6}"/>
              </a:ext>
            </a:extLst>
          </p:cNvPr>
          <p:cNvCxnSpPr>
            <a:cxnSpLocks/>
          </p:cNvCxnSpPr>
          <p:nvPr/>
        </p:nvCxnSpPr>
        <p:spPr>
          <a:xfrm>
            <a:off x="2522604" y="2109016"/>
            <a:ext cx="115321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24C2ED8C-E869-51DC-54A8-77FDF8F0EDA6}"/>
              </a:ext>
            </a:extLst>
          </p:cNvPr>
          <p:cNvCxnSpPr>
            <a:cxnSpLocks/>
          </p:cNvCxnSpPr>
          <p:nvPr/>
        </p:nvCxnSpPr>
        <p:spPr>
          <a:xfrm>
            <a:off x="2522604" y="2541064"/>
            <a:ext cx="1153211" cy="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DEFC0BD-8BCE-17F6-0909-78D208AC3B13}"/>
              </a:ext>
            </a:extLst>
          </p:cNvPr>
          <p:cNvSpPr txBox="1"/>
          <p:nvPr/>
        </p:nvSpPr>
        <p:spPr>
          <a:xfrm>
            <a:off x="2489173" y="1843477"/>
            <a:ext cx="1149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>
                <a:latin typeface="Arial" panose="020B0604020202020204" pitchFamily="34" charset="0"/>
                <a:cs typeface="Arial" panose="020B0604020202020204" pitchFamily="34" charset="0"/>
              </a:rPr>
              <a:t>Tool_use</a:t>
            </a:r>
            <a:endParaRPr kumimoji="1"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062E507-9339-B346-A6BB-20A0A2FFD70D}"/>
              </a:ext>
            </a:extLst>
          </p:cNvPr>
          <p:cNvSpPr txBox="1"/>
          <p:nvPr/>
        </p:nvSpPr>
        <p:spPr>
          <a:xfrm>
            <a:off x="2526389" y="2506429"/>
            <a:ext cx="1149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>
                <a:latin typeface="Arial" panose="020B0604020202020204" pitchFamily="34" charset="0"/>
                <a:cs typeface="Arial" panose="020B0604020202020204" pitchFamily="34" charset="0"/>
              </a:rPr>
              <a:t>Tool_result</a:t>
            </a:r>
            <a:endParaRPr kumimoji="1"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A8BA1D2-6212-DC55-EBA2-1CC1DF8DB039}"/>
              </a:ext>
            </a:extLst>
          </p:cNvPr>
          <p:cNvSpPr/>
          <p:nvPr/>
        </p:nvSpPr>
        <p:spPr>
          <a:xfrm>
            <a:off x="6181759" y="1417636"/>
            <a:ext cx="4954007" cy="38115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240FB608-B6D0-0C09-776E-9AFB5BBB0D0E}"/>
              </a:ext>
            </a:extLst>
          </p:cNvPr>
          <p:cNvSpPr txBox="1"/>
          <p:nvPr/>
        </p:nvSpPr>
        <p:spPr>
          <a:xfrm>
            <a:off x="6181760" y="1417637"/>
            <a:ext cx="4954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Sub-Agent</a:t>
            </a:r>
            <a:endParaRPr kumimoji="1"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6036E91-D894-4097-5D87-008BC2F1E79E}"/>
              </a:ext>
            </a:extLst>
          </p:cNvPr>
          <p:cNvSpPr/>
          <p:nvPr/>
        </p:nvSpPr>
        <p:spPr>
          <a:xfrm>
            <a:off x="6396198" y="1940284"/>
            <a:ext cx="1653530" cy="7958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Sub-agent</a:t>
            </a:r>
          </a:p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8260F7-5D60-1656-3B2E-EA0E189154E5}"/>
              </a:ext>
            </a:extLst>
          </p:cNvPr>
          <p:cNvSpPr/>
          <p:nvPr/>
        </p:nvSpPr>
        <p:spPr>
          <a:xfrm>
            <a:off x="9210885" y="1933216"/>
            <a:ext cx="1653530" cy="79203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Harness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F59122B6-F3A6-B74A-B0A0-0A018C219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404271"/>
              </p:ext>
            </p:extLst>
          </p:nvPr>
        </p:nvGraphicFramePr>
        <p:xfrm>
          <a:off x="6272690" y="2990079"/>
          <a:ext cx="477214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2">
                  <a:extLst>
                    <a:ext uri="{9D8B030D-6E8A-4147-A177-3AD203B41FA5}">
                      <a16:colId xmlns:a16="http://schemas.microsoft.com/office/drawing/2014/main" val="3594403700"/>
                    </a:ext>
                  </a:extLst>
                </a:gridCol>
                <a:gridCol w="2386072">
                  <a:extLst>
                    <a:ext uri="{9D8B030D-6E8A-4147-A177-3AD203B41FA5}">
                      <a16:colId xmlns:a16="http://schemas.microsoft.com/office/drawing/2014/main" val="1712476183"/>
                    </a:ext>
                  </a:extLst>
                </a:gridCol>
              </a:tblGrid>
              <a:tr h="3112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Tool Name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Function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763374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Artifact_search</a:t>
                      </a:r>
                      <a:endParaRPr kumimoji="1"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搜尋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DB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71550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Artifact_get_spans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取得實際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Spans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477924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Artifact_expand_view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展開</a:t>
                      </a:r>
                      <a:r>
                        <a:rPr lang="en-US" altLang="zh-TW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artifact_type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115131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4. </a:t>
                      </a:r>
                      <a:r>
                        <a:rPr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Artifact_find_related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搜尋關聯性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89431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Submit_report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子代理回傳結果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951921"/>
                  </a:ext>
                </a:extLst>
              </a:tr>
            </a:tbl>
          </a:graphicData>
        </a:graphic>
      </p:graphicFrame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FBF4DF4E-C1DB-5582-1CB8-DB03D482ABBC}"/>
              </a:ext>
            </a:extLst>
          </p:cNvPr>
          <p:cNvCxnSpPr>
            <a:cxnSpLocks/>
          </p:cNvCxnSpPr>
          <p:nvPr/>
        </p:nvCxnSpPr>
        <p:spPr>
          <a:xfrm>
            <a:off x="8057674" y="2155207"/>
            <a:ext cx="115321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8CBC583C-062A-7A4A-3E1E-658E66B50EF8}"/>
              </a:ext>
            </a:extLst>
          </p:cNvPr>
          <p:cNvCxnSpPr>
            <a:cxnSpLocks/>
          </p:cNvCxnSpPr>
          <p:nvPr/>
        </p:nvCxnSpPr>
        <p:spPr>
          <a:xfrm>
            <a:off x="8057674" y="2587255"/>
            <a:ext cx="1153211" cy="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77D1FE0-FB7C-B82C-BC41-E9094649D3FC}"/>
              </a:ext>
            </a:extLst>
          </p:cNvPr>
          <p:cNvSpPr txBox="1"/>
          <p:nvPr/>
        </p:nvSpPr>
        <p:spPr>
          <a:xfrm>
            <a:off x="8024243" y="1889668"/>
            <a:ext cx="1149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>
                <a:latin typeface="Arial" panose="020B0604020202020204" pitchFamily="34" charset="0"/>
                <a:cs typeface="Arial" panose="020B0604020202020204" pitchFamily="34" charset="0"/>
              </a:rPr>
              <a:t>Tool_use</a:t>
            </a:r>
            <a:endParaRPr kumimoji="1"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E97C5EF-D895-2668-5A54-32906D316D20}"/>
              </a:ext>
            </a:extLst>
          </p:cNvPr>
          <p:cNvSpPr txBox="1"/>
          <p:nvPr/>
        </p:nvSpPr>
        <p:spPr>
          <a:xfrm>
            <a:off x="8061459" y="2552620"/>
            <a:ext cx="1149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>
                <a:latin typeface="Arial" panose="020B0604020202020204" pitchFamily="34" charset="0"/>
                <a:cs typeface="Arial" panose="020B0604020202020204" pitchFamily="34" charset="0"/>
              </a:rPr>
              <a:t>Tool_result</a:t>
            </a:r>
            <a:endParaRPr kumimoji="1"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左大括弧 40">
            <a:extLst>
              <a:ext uri="{FF2B5EF4-FFF2-40B4-BE49-F238E27FC236}">
                <a16:creationId xmlns:a16="http://schemas.microsoft.com/office/drawing/2014/main" id="{83A39CB8-2C0D-CE17-9454-A90BD5B9FD69}"/>
              </a:ext>
            </a:extLst>
          </p:cNvPr>
          <p:cNvSpPr/>
          <p:nvPr/>
        </p:nvSpPr>
        <p:spPr>
          <a:xfrm>
            <a:off x="5337291" y="1417635"/>
            <a:ext cx="832737" cy="3811562"/>
          </a:xfrm>
          <a:prstGeom prst="leftBrace">
            <a:avLst>
              <a:gd name="adj1" fmla="val 28440"/>
              <a:gd name="adj2" fmla="val 742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17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5B34A-B09E-3A81-111D-A8D5C73C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28"/>
            <a:ext cx="12190413" cy="1143000"/>
          </a:xfrm>
        </p:spPr>
        <p:txBody>
          <a:bodyPr anchor="ctr"/>
          <a:lstStyle/>
          <a:p>
            <a:r>
              <a:rPr kumimoji="1" lang="en" altLang="zh-TW" dirty="0"/>
              <a:t>Data Model </a:t>
            </a: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6AF70A-78A2-30F3-20EA-673C768023B1}"/>
              </a:ext>
            </a:extLst>
          </p:cNvPr>
          <p:cNvSpPr/>
          <p:nvPr/>
        </p:nvSpPr>
        <p:spPr>
          <a:xfrm>
            <a:off x="10403533" y="4145610"/>
            <a:ext cx="1598438" cy="799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98" dirty="0" err="1">
                <a:solidFill>
                  <a:schemeClr val="tx1"/>
                </a:solidFill>
              </a:rPr>
              <a:t>Artifact_spans</a:t>
            </a:r>
            <a:endParaRPr kumimoji="1" lang="zh-TW" altLang="en-US" sz="1598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F63AD7-0F64-382C-2713-86DFF93B1EBE}"/>
              </a:ext>
            </a:extLst>
          </p:cNvPr>
          <p:cNvSpPr>
            <a:spLocks noChangeAspect="1"/>
          </p:cNvSpPr>
          <p:nvPr/>
        </p:nvSpPr>
        <p:spPr>
          <a:xfrm>
            <a:off x="10266752" y="4077218"/>
            <a:ext cx="1872000" cy="9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598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38FCD8-22B3-C64B-E805-B3112C8C64FB}"/>
              </a:ext>
            </a:extLst>
          </p:cNvPr>
          <p:cNvSpPr/>
          <p:nvPr/>
        </p:nvSpPr>
        <p:spPr>
          <a:xfrm>
            <a:off x="118542" y="5383050"/>
            <a:ext cx="11953328" cy="147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326F40-32F1-5B19-8E06-DFB40FF69BE7}"/>
              </a:ext>
            </a:extLst>
          </p:cNvPr>
          <p:cNvSpPr/>
          <p:nvPr/>
        </p:nvSpPr>
        <p:spPr>
          <a:xfrm>
            <a:off x="5617879" y="4209945"/>
            <a:ext cx="1598438" cy="799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98" dirty="0">
                <a:solidFill>
                  <a:schemeClr val="tx1"/>
                </a:solidFill>
              </a:rPr>
              <a:t>Artifact</a:t>
            </a:r>
            <a:endParaRPr kumimoji="1" lang="zh-TW" altLang="en-US" sz="1598" dirty="0">
              <a:solidFill>
                <a:schemeClr val="tx1"/>
              </a:solidFill>
            </a:endParaRPr>
          </a:p>
        </p:txBody>
      </p:sp>
      <p:sp>
        <p:nvSpPr>
          <p:cNvPr id="4" name="決策 3">
            <a:extLst>
              <a:ext uri="{FF2B5EF4-FFF2-40B4-BE49-F238E27FC236}">
                <a16:creationId xmlns:a16="http://schemas.microsoft.com/office/drawing/2014/main" id="{D8D91F93-D823-9F18-AFCF-B2F38192021E}"/>
              </a:ext>
            </a:extLst>
          </p:cNvPr>
          <p:cNvSpPr>
            <a:spLocks noChangeAspect="1"/>
          </p:cNvSpPr>
          <p:nvPr/>
        </p:nvSpPr>
        <p:spPr>
          <a:xfrm>
            <a:off x="5613703" y="5943048"/>
            <a:ext cx="1867624" cy="79921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98" dirty="0" err="1">
                <a:solidFill>
                  <a:schemeClr val="tx1"/>
                </a:solidFill>
              </a:rPr>
              <a:t>Artifact_link</a:t>
            </a:r>
            <a:endParaRPr kumimoji="1" lang="zh-TW" altLang="en-US" sz="1598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EBB188-EA6C-6F25-4750-A4D5E5479614}"/>
              </a:ext>
            </a:extLst>
          </p:cNvPr>
          <p:cNvSpPr/>
          <p:nvPr/>
        </p:nvSpPr>
        <p:spPr>
          <a:xfrm>
            <a:off x="584468" y="3117979"/>
            <a:ext cx="1598438" cy="799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98" dirty="0">
                <a:solidFill>
                  <a:schemeClr val="tx1"/>
                </a:solidFill>
              </a:rPr>
              <a:t>Grant</a:t>
            </a:r>
            <a:endParaRPr kumimoji="1" lang="zh-TW" altLang="en-US" sz="1598" dirty="0">
              <a:solidFill>
                <a:schemeClr val="tx1"/>
              </a:solidFill>
            </a:endParaRPr>
          </a:p>
        </p:txBody>
      </p:sp>
      <p:sp>
        <p:nvSpPr>
          <p:cNvPr id="6" name="決策 5">
            <a:extLst>
              <a:ext uri="{FF2B5EF4-FFF2-40B4-BE49-F238E27FC236}">
                <a16:creationId xmlns:a16="http://schemas.microsoft.com/office/drawing/2014/main" id="{F38B47D7-0AD5-A7AC-EE6B-F1F5444C54DD}"/>
              </a:ext>
            </a:extLst>
          </p:cNvPr>
          <p:cNvSpPr>
            <a:spLocks noChangeAspect="1"/>
          </p:cNvSpPr>
          <p:nvPr/>
        </p:nvSpPr>
        <p:spPr>
          <a:xfrm>
            <a:off x="257640" y="4222675"/>
            <a:ext cx="2292506" cy="79921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98" dirty="0">
                <a:solidFill>
                  <a:schemeClr val="tx1"/>
                </a:solidFill>
              </a:rPr>
              <a:t>record</a:t>
            </a:r>
            <a:endParaRPr kumimoji="1" lang="zh-TW" altLang="en-US" sz="1598" dirty="0">
              <a:solidFill>
                <a:schemeClr val="tx1"/>
              </a:solidFill>
            </a:endParaRPr>
          </a:p>
        </p:txBody>
      </p:sp>
      <p:sp>
        <p:nvSpPr>
          <p:cNvPr id="7" name="決策 6">
            <a:extLst>
              <a:ext uri="{FF2B5EF4-FFF2-40B4-BE49-F238E27FC236}">
                <a16:creationId xmlns:a16="http://schemas.microsoft.com/office/drawing/2014/main" id="{6261AAFA-57E5-9564-6D9E-289AF11CC158}"/>
              </a:ext>
            </a:extLst>
          </p:cNvPr>
          <p:cNvSpPr>
            <a:spLocks noChangeAspect="1"/>
          </p:cNvSpPr>
          <p:nvPr/>
        </p:nvSpPr>
        <p:spPr>
          <a:xfrm>
            <a:off x="7803633" y="4219267"/>
            <a:ext cx="1867624" cy="79921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98" dirty="0">
                <a:solidFill>
                  <a:schemeClr val="tx1"/>
                </a:solidFill>
              </a:rPr>
              <a:t>contain</a:t>
            </a:r>
            <a:endParaRPr kumimoji="1" lang="zh-TW" altLang="en-US" sz="1598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B3D36A-0C0E-4F89-AA56-B094F2E0A277}"/>
              </a:ext>
            </a:extLst>
          </p:cNvPr>
          <p:cNvSpPr/>
          <p:nvPr/>
        </p:nvSpPr>
        <p:spPr>
          <a:xfrm>
            <a:off x="660854" y="5649351"/>
            <a:ext cx="1598438" cy="799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98" dirty="0" err="1">
                <a:solidFill>
                  <a:schemeClr val="tx1"/>
                </a:solidFill>
              </a:rPr>
              <a:t>Artifact_log</a:t>
            </a:r>
            <a:endParaRPr kumimoji="1" lang="zh-TW" altLang="en-US" sz="1598" dirty="0">
              <a:solidFill>
                <a:schemeClr val="tx1"/>
              </a:solidFill>
            </a:endParaRPr>
          </a:p>
        </p:txBody>
      </p:sp>
      <p:sp>
        <p:nvSpPr>
          <p:cNvPr id="10" name="決策 9">
            <a:extLst>
              <a:ext uri="{FF2B5EF4-FFF2-40B4-BE49-F238E27FC236}">
                <a16:creationId xmlns:a16="http://schemas.microsoft.com/office/drawing/2014/main" id="{EC911B90-2BC9-07C7-12EA-088BD60226E7}"/>
              </a:ext>
            </a:extLst>
          </p:cNvPr>
          <p:cNvSpPr>
            <a:spLocks noChangeAspect="1"/>
          </p:cNvSpPr>
          <p:nvPr/>
        </p:nvSpPr>
        <p:spPr>
          <a:xfrm rot="20366666">
            <a:off x="2754360" y="5047359"/>
            <a:ext cx="1876694" cy="79921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Record_</a:t>
            </a:r>
          </a:p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access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F2E602DE-F7F9-B9F9-8B30-6430E2D2EECB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383687" y="3917198"/>
            <a:ext cx="20206" cy="3054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7EC3E2F-99E7-2598-5AB1-2C13E8FC4A60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460073" y="5043279"/>
            <a:ext cx="0" cy="606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DED2BC24-1B97-E732-0F79-699D87B38B54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2259292" y="5776437"/>
            <a:ext cx="554811" cy="2725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723ED893-2E20-AE84-1E74-61795BCD6DCB}"/>
              </a:ext>
            </a:extLst>
          </p:cNvPr>
          <p:cNvCxnSpPr>
            <a:cxnSpLocks/>
            <a:stCxn id="10" idx="3"/>
            <a:endCxn id="3" idx="1"/>
          </p:cNvCxnSpPr>
          <p:nvPr/>
        </p:nvCxnSpPr>
        <p:spPr>
          <a:xfrm flipV="1">
            <a:off x="4571312" y="4609555"/>
            <a:ext cx="1046567" cy="5079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6A2EE492-7F2F-D159-9021-65BAC54D1FF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613703" y="5060464"/>
            <a:ext cx="0" cy="12821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17A20BBB-3C85-7D53-E668-1617CFDB7039}"/>
              </a:ext>
            </a:extLst>
          </p:cNvPr>
          <p:cNvCxnSpPr>
            <a:cxnSpLocks/>
          </p:cNvCxnSpPr>
          <p:nvPr/>
        </p:nvCxnSpPr>
        <p:spPr>
          <a:xfrm>
            <a:off x="7212141" y="5011194"/>
            <a:ext cx="269186" cy="13314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BC64343-C5B5-FC23-0A1E-AE7898521ED4}"/>
              </a:ext>
            </a:extLst>
          </p:cNvPr>
          <p:cNvCxnSpPr>
            <a:cxnSpLocks/>
          </p:cNvCxnSpPr>
          <p:nvPr/>
        </p:nvCxnSpPr>
        <p:spPr>
          <a:xfrm>
            <a:off x="7212141" y="4604286"/>
            <a:ext cx="6089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2D79106-DDC1-81EC-1F4C-F778C14A282A}"/>
              </a:ext>
            </a:extLst>
          </p:cNvPr>
          <p:cNvCxnSpPr>
            <a:cxnSpLocks/>
          </p:cNvCxnSpPr>
          <p:nvPr/>
        </p:nvCxnSpPr>
        <p:spPr>
          <a:xfrm flipV="1">
            <a:off x="9584862" y="4532024"/>
            <a:ext cx="681890" cy="384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D9E3F608-EFD9-F7E8-A72E-96657B47CA81}"/>
              </a:ext>
            </a:extLst>
          </p:cNvPr>
          <p:cNvCxnSpPr>
            <a:cxnSpLocks/>
          </p:cNvCxnSpPr>
          <p:nvPr/>
        </p:nvCxnSpPr>
        <p:spPr>
          <a:xfrm flipV="1">
            <a:off x="9583315" y="4599495"/>
            <a:ext cx="681890" cy="384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AA5B885-20DF-CD53-7A4A-21180680D98C}"/>
              </a:ext>
            </a:extLst>
          </p:cNvPr>
          <p:cNvSpPr txBox="1"/>
          <p:nvPr/>
        </p:nvSpPr>
        <p:spPr>
          <a:xfrm>
            <a:off x="7461095" y="4307409"/>
            <a:ext cx="33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1</a:t>
            </a:r>
            <a:endParaRPr kumimoji="1"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A7578E8-A951-8997-5C76-C42F4118046A}"/>
              </a:ext>
            </a:extLst>
          </p:cNvPr>
          <p:cNvSpPr txBox="1"/>
          <p:nvPr/>
        </p:nvSpPr>
        <p:spPr>
          <a:xfrm>
            <a:off x="9584452" y="4251927"/>
            <a:ext cx="33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</a:t>
            </a:r>
            <a:endParaRPr kumimoji="1"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CA60FC2E-0A5A-6015-E79B-306AE1D29980}"/>
              </a:ext>
            </a:extLst>
          </p:cNvPr>
          <p:cNvSpPr txBox="1"/>
          <p:nvPr/>
        </p:nvSpPr>
        <p:spPr>
          <a:xfrm>
            <a:off x="5038850" y="4474783"/>
            <a:ext cx="33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1</a:t>
            </a:r>
            <a:endParaRPr kumimoji="1"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5F56C5A-9615-B8D5-CCB1-1BC8E1597F98}"/>
              </a:ext>
            </a:extLst>
          </p:cNvPr>
          <p:cNvSpPr txBox="1"/>
          <p:nvPr/>
        </p:nvSpPr>
        <p:spPr>
          <a:xfrm>
            <a:off x="2234704" y="5679628"/>
            <a:ext cx="33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</a:t>
            </a:r>
            <a:endParaRPr kumimoji="1"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39B3CA9-47F3-CEB1-7C72-46B77F46B9FE}"/>
              </a:ext>
            </a:extLst>
          </p:cNvPr>
          <p:cNvSpPr txBox="1"/>
          <p:nvPr/>
        </p:nvSpPr>
        <p:spPr>
          <a:xfrm>
            <a:off x="5297260" y="5492259"/>
            <a:ext cx="33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1</a:t>
            </a:r>
            <a:endParaRPr kumimoji="1"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D968583-2B10-FD99-010B-C3029837E646}"/>
              </a:ext>
            </a:extLst>
          </p:cNvPr>
          <p:cNvSpPr txBox="1"/>
          <p:nvPr/>
        </p:nvSpPr>
        <p:spPr>
          <a:xfrm>
            <a:off x="7311423" y="5421634"/>
            <a:ext cx="33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</a:t>
            </a:r>
            <a:endParaRPr kumimoji="1"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3C08C3B5-2F79-519E-3B84-D7A7E1125321}"/>
              </a:ext>
            </a:extLst>
          </p:cNvPr>
          <p:cNvSpPr txBox="1"/>
          <p:nvPr/>
        </p:nvSpPr>
        <p:spPr>
          <a:xfrm>
            <a:off x="1356467" y="3938583"/>
            <a:ext cx="33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1</a:t>
            </a:r>
            <a:endParaRPr kumimoji="1"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5FA6CA98-A27B-A197-BDBA-366BD69500BF}"/>
              </a:ext>
            </a:extLst>
          </p:cNvPr>
          <p:cNvSpPr txBox="1"/>
          <p:nvPr/>
        </p:nvSpPr>
        <p:spPr>
          <a:xfrm>
            <a:off x="1459382" y="5084731"/>
            <a:ext cx="33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</a:t>
            </a:r>
            <a:endParaRPr kumimoji="1" lang="zh-TW" altLang="en-US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57C1940-9F28-491C-EAE0-0AD4C87ABE46}"/>
              </a:ext>
            </a:extLst>
          </p:cNvPr>
          <p:cNvSpPr/>
          <p:nvPr/>
        </p:nvSpPr>
        <p:spPr>
          <a:xfrm>
            <a:off x="5378658" y="1260894"/>
            <a:ext cx="1598438" cy="799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98" dirty="0">
                <a:solidFill>
                  <a:schemeClr val="tx1"/>
                </a:solidFill>
              </a:rPr>
              <a:t>Agent</a:t>
            </a:r>
            <a:endParaRPr kumimoji="1" lang="zh-TW" altLang="en-US" sz="1598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D00F683-C527-F8D8-2B45-8FDECEB48264}"/>
              </a:ext>
            </a:extLst>
          </p:cNvPr>
          <p:cNvSpPr/>
          <p:nvPr/>
        </p:nvSpPr>
        <p:spPr>
          <a:xfrm>
            <a:off x="6682108" y="2564052"/>
            <a:ext cx="1598438" cy="799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98" dirty="0">
                <a:solidFill>
                  <a:schemeClr val="tx1"/>
                </a:solidFill>
              </a:rPr>
              <a:t>Sub Agent</a:t>
            </a:r>
            <a:endParaRPr kumimoji="1" lang="zh-TW" altLang="en-US" sz="1598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5A319C3-0A1F-8A80-9918-4AA7D08F773A}"/>
              </a:ext>
            </a:extLst>
          </p:cNvPr>
          <p:cNvSpPr/>
          <p:nvPr/>
        </p:nvSpPr>
        <p:spPr>
          <a:xfrm>
            <a:off x="4013093" y="2558000"/>
            <a:ext cx="1598438" cy="799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98" dirty="0">
                <a:solidFill>
                  <a:schemeClr val="tx1"/>
                </a:solidFill>
              </a:rPr>
              <a:t>Supervisor Agent</a:t>
            </a:r>
            <a:endParaRPr kumimoji="1" lang="zh-TW" altLang="en-US" sz="1598" dirty="0">
              <a:solidFill>
                <a:schemeClr val="tx1"/>
              </a:solidFill>
            </a:endParaRPr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F28B5F84-F46C-B6F4-AF1E-2A35C889E58F}"/>
              </a:ext>
            </a:extLst>
          </p:cNvPr>
          <p:cNvCxnSpPr>
            <a:cxnSpLocks/>
          </p:cNvCxnSpPr>
          <p:nvPr/>
        </p:nvCxnSpPr>
        <p:spPr>
          <a:xfrm flipH="1">
            <a:off x="5611531" y="2616847"/>
            <a:ext cx="296746" cy="2357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81BACF9E-17F2-60A4-A59A-F7C769FC22A5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6300870" y="2598536"/>
            <a:ext cx="381238" cy="3651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6A72067B-FF57-24A9-37AB-2A6B5692469A}"/>
              </a:ext>
            </a:extLst>
          </p:cNvPr>
          <p:cNvCxnSpPr>
            <a:cxnSpLocks/>
          </p:cNvCxnSpPr>
          <p:nvPr/>
        </p:nvCxnSpPr>
        <p:spPr>
          <a:xfrm flipV="1">
            <a:off x="6111710" y="2060113"/>
            <a:ext cx="0" cy="25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96BAD9DD-4555-116B-95C1-A71FBEDF3EBF}"/>
              </a:ext>
            </a:extLst>
          </p:cNvPr>
          <p:cNvCxnSpPr>
            <a:cxnSpLocks/>
          </p:cNvCxnSpPr>
          <p:nvPr/>
        </p:nvCxnSpPr>
        <p:spPr>
          <a:xfrm flipV="1">
            <a:off x="6177023" y="2053164"/>
            <a:ext cx="0" cy="25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橢圓 57">
            <a:extLst>
              <a:ext uri="{FF2B5EF4-FFF2-40B4-BE49-F238E27FC236}">
                <a16:creationId xmlns:a16="http://schemas.microsoft.com/office/drawing/2014/main" id="{B37DE291-E44F-1A54-E2FF-543C7088D9FF}"/>
              </a:ext>
            </a:extLst>
          </p:cNvPr>
          <p:cNvSpPr>
            <a:spLocks noChangeAspect="1"/>
          </p:cNvSpPr>
          <p:nvPr/>
        </p:nvSpPr>
        <p:spPr>
          <a:xfrm>
            <a:off x="5903913" y="2312113"/>
            <a:ext cx="415594" cy="4155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598" dirty="0">
                <a:solidFill>
                  <a:schemeClr val="tx1"/>
                </a:solidFill>
              </a:rPr>
              <a:t>d</a:t>
            </a:r>
            <a:endParaRPr kumimoji="1" lang="zh-TW" altLang="en-US" sz="1598" dirty="0">
              <a:solidFill>
                <a:schemeClr val="tx1"/>
              </a:solidFill>
            </a:endParaRPr>
          </a:p>
        </p:txBody>
      </p:sp>
      <p:sp>
        <p:nvSpPr>
          <p:cNvPr id="67" name="手繪多邊形 66">
            <a:extLst>
              <a:ext uri="{FF2B5EF4-FFF2-40B4-BE49-F238E27FC236}">
                <a16:creationId xmlns:a16="http://schemas.microsoft.com/office/drawing/2014/main" id="{878AB1F2-DA78-5F97-7789-5660F02A4CB2}"/>
              </a:ext>
            </a:extLst>
          </p:cNvPr>
          <p:cNvSpPr/>
          <p:nvPr/>
        </p:nvSpPr>
        <p:spPr>
          <a:xfrm>
            <a:off x="745504" y="994962"/>
            <a:ext cx="10316817" cy="2844750"/>
          </a:xfrm>
          <a:custGeom>
            <a:avLst/>
            <a:gdLst>
              <a:gd name="csX0" fmla="*/ 0 w 10316817"/>
              <a:gd name="csY0" fmla="*/ 198782 h 2844750"/>
              <a:gd name="csX1" fmla="*/ 2743200 w 10316817"/>
              <a:gd name="csY1" fmla="*/ 2385391 h 2844750"/>
              <a:gd name="csX2" fmla="*/ 7692887 w 10316817"/>
              <a:gd name="csY2" fmla="*/ 2643808 h 2844750"/>
              <a:gd name="csX3" fmla="*/ 10316817 w 10316817"/>
              <a:gd name="csY3" fmla="*/ 0 h 2844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316817" h="2844750">
                <a:moveTo>
                  <a:pt x="0" y="198782"/>
                </a:moveTo>
                <a:cubicBezTo>
                  <a:pt x="730526" y="1088334"/>
                  <a:pt x="1461052" y="1977887"/>
                  <a:pt x="2743200" y="2385391"/>
                </a:cubicBezTo>
                <a:cubicBezTo>
                  <a:pt x="4025348" y="2792895"/>
                  <a:pt x="6430618" y="3041373"/>
                  <a:pt x="7692887" y="2643808"/>
                </a:cubicBezTo>
                <a:cubicBezTo>
                  <a:pt x="8955157" y="2246243"/>
                  <a:pt x="9635987" y="1123121"/>
                  <a:pt x="1031681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97525077-61CD-BE3B-C8A0-00A2529B6D0E}"/>
              </a:ext>
            </a:extLst>
          </p:cNvPr>
          <p:cNvSpPr txBox="1"/>
          <p:nvPr/>
        </p:nvSpPr>
        <p:spPr>
          <a:xfrm>
            <a:off x="4075620" y="6099716"/>
            <a:ext cx="1540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Source artifact</a:t>
            </a:r>
            <a:endParaRPr kumimoji="1" lang="zh-TW" altLang="en-US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D0FE60FE-2FD9-46C5-F2DC-C8AB25CFF51F}"/>
              </a:ext>
            </a:extLst>
          </p:cNvPr>
          <p:cNvSpPr txBox="1"/>
          <p:nvPr/>
        </p:nvSpPr>
        <p:spPr>
          <a:xfrm>
            <a:off x="7461095" y="5844868"/>
            <a:ext cx="186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Derived artifact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3240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CB840-5B9B-27D5-1DF2-DB941B3D1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273A09-9A00-099C-7E96-5C96F0025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4602"/>
            <a:ext cx="12190413" cy="1143000"/>
          </a:xfrm>
        </p:spPr>
        <p:txBody>
          <a:bodyPr anchor="ctr"/>
          <a:lstStyle/>
          <a:p>
            <a:r>
              <a:rPr kumimoji="1" lang="en" altLang="zh-TW" dirty="0"/>
              <a:t>Table Schemas</a:t>
            </a:r>
            <a:endParaRPr kumimoji="1"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03FAAB5-4C98-DED8-1AD5-D6788E12EB3A}"/>
              </a:ext>
            </a:extLst>
          </p:cNvPr>
          <p:cNvSpPr/>
          <p:nvPr/>
        </p:nvSpPr>
        <p:spPr>
          <a:xfrm>
            <a:off x="118542" y="5383050"/>
            <a:ext cx="11953328" cy="147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470AE461-A846-199D-FFA8-BB7A9DF49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402418"/>
              </p:ext>
            </p:extLst>
          </p:nvPr>
        </p:nvGraphicFramePr>
        <p:xfrm>
          <a:off x="3002756" y="1563256"/>
          <a:ext cx="6184900" cy="1778000"/>
        </p:xfrm>
        <a:graphic>
          <a:graphicData uri="http://schemas.openxmlformats.org/drawingml/2006/table">
            <a:tbl>
              <a:tblPr/>
              <a:tblGrid>
                <a:gridCol w="1779348">
                  <a:extLst>
                    <a:ext uri="{9D8B030D-6E8A-4147-A177-3AD203B41FA5}">
                      <a16:colId xmlns:a16="http://schemas.microsoft.com/office/drawing/2014/main" val="565296028"/>
                    </a:ext>
                  </a:extLst>
                </a:gridCol>
                <a:gridCol w="4405552">
                  <a:extLst>
                    <a:ext uri="{9D8B030D-6E8A-4147-A177-3AD203B41FA5}">
                      <a16:colId xmlns:a16="http://schemas.microsoft.com/office/drawing/2014/main" val="312679192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1400" b="1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1400" b="1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4550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artifacts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 stored tool-result artifact.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65704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artifact_spans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70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Citeable evidence spans extracted from artifacts.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74791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1400" b="0" i="0" u="none" strike="noStrike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artifact_links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Optional artifact-to-artifact relation/provenance edges.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3587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1400" b="0" i="0" u="none" strike="noStrike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artifact_grants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Capability-like scoped access record.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67139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1400" b="0" i="0" u="none" strike="noStrike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artifact_access_log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Audit log for all read attempts.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73415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artifact_fts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14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FTS5 search index over previews and span text.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769022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E38255F6-692F-0880-45B9-AF8AB01B9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9762"/>
              </p:ext>
            </p:extLst>
          </p:nvPr>
        </p:nvGraphicFramePr>
        <p:xfrm>
          <a:off x="107628" y="3501006"/>
          <a:ext cx="4233121" cy="3168354"/>
        </p:xfrm>
        <a:graphic>
          <a:graphicData uri="http://schemas.openxmlformats.org/drawingml/2006/table">
            <a:tbl>
              <a:tblPr/>
              <a:tblGrid>
                <a:gridCol w="1344016">
                  <a:extLst>
                    <a:ext uri="{9D8B030D-6E8A-4147-A177-3AD203B41FA5}">
                      <a16:colId xmlns:a16="http://schemas.microsoft.com/office/drawing/2014/main" val="373866898"/>
                    </a:ext>
                  </a:extLst>
                </a:gridCol>
                <a:gridCol w="2889105">
                  <a:extLst>
                    <a:ext uri="{9D8B030D-6E8A-4147-A177-3AD203B41FA5}">
                      <a16:colId xmlns:a16="http://schemas.microsoft.com/office/drawing/2014/main" val="2569212438"/>
                    </a:ext>
                  </a:extLst>
                </a:gridCol>
              </a:tblGrid>
              <a:tr h="3635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38086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artifact_id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rtifact </a:t>
                      </a:r>
                      <a:r>
                        <a:rPr lang="en-US" alt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returned to agents, e.g. art_xxxxxxxx.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949133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session_id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 artifacts by run/session.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696311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parent_artifact_id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Optional pointer for derived artifacts.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877489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creator_agent_id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 or harness that created this artifact.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731596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tool_name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Tool that produced the raw output.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709981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artifact_type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Type-driven extractor key.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827757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raw_uri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Reserved for future file-backed raw storage.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194022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raw_blob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Canonical raw text payload stored in SQLite.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11542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raw_hash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SHA-256 hex hash of raw text.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988692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token_count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raw token count.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186946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preview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 safe preview of artifact.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817904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sensitivity_label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Sensitivity class for predicate checks.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176428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metadata_json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Artifact-type-specific metadata.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237433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created_at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 timestamp.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824705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B7C9F5D2-19C0-E448-EAE6-FACAE1456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869823"/>
              </p:ext>
            </p:extLst>
          </p:nvPr>
        </p:nvGraphicFramePr>
        <p:xfrm>
          <a:off x="4372697" y="3501006"/>
          <a:ext cx="4233121" cy="2796160"/>
        </p:xfrm>
        <a:graphic>
          <a:graphicData uri="http://schemas.openxmlformats.org/drawingml/2006/table">
            <a:tbl>
              <a:tblPr/>
              <a:tblGrid>
                <a:gridCol w="1344016">
                  <a:extLst>
                    <a:ext uri="{9D8B030D-6E8A-4147-A177-3AD203B41FA5}">
                      <a16:colId xmlns:a16="http://schemas.microsoft.com/office/drawing/2014/main" val="3871266683"/>
                    </a:ext>
                  </a:extLst>
                </a:gridCol>
                <a:gridCol w="2889105">
                  <a:extLst>
                    <a:ext uri="{9D8B030D-6E8A-4147-A177-3AD203B41FA5}">
                      <a16:colId xmlns:a16="http://schemas.microsoft.com/office/drawing/2014/main" val="4273761271"/>
                    </a:ext>
                  </a:extLst>
                </a:gridCol>
              </a:tblGrid>
              <a:tr h="3517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Column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Meaning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06247"/>
                  </a:ext>
                </a:extLst>
              </a:tr>
              <a:tr h="2715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span_id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Stable citeable span </a:t>
                      </a:r>
                      <a:r>
                        <a:rPr lang="en-US" alt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id</a:t>
                      </a: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, e.g. span_xxxxxxxx.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719641"/>
                  </a:ext>
                </a:extLst>
              </a:tr>
              <a:tr h="2715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artifact_id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Parent artifact for this span.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079365"/>
                  </a:ext>
                </a:extLst>
              </a:tr>
              <a:tr h="2715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span_type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Type of extracted evidence span.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523164"/>
                  </a:ext>
                </a:extLst>
              </a:tr>
              <a:tr h="2715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file_path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Optional source file path associated with span.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014301"/>
                  </a:ext>
                </a:extLst>
              </a:tr>
              <a:tr h="2715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line_start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Start line when available.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413525"/>
                  </a:ext>
                </a:extLst>
              </a:tr>
              <a:tr h="2715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line_end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End line when available.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398005"/>
                  </a:ext>
                </a:extLst>
              </a:tr>
              <a:tr h="2715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text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Span text returned to agents when authorized.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58282"/>
                  </a:ext>
                </a:extLst>
              </a:tr>
              <a:tr h="2715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token_count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Estimated span token count.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13036"/>
                  </a:ext>
                </a:extLst>
              </a:tr>
              <a:tr h="2715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importance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Extractor-assigned importance score.</a:t>
                      </a:r>
                    </a:p>
                  </a:txBody>
                  <a:tcPr marL="7941" marR="7941" marT="79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127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E66FBC54-8537-6D91-90D6-67F6EC4AA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815327"/>
              </p:ext>
            </p:extLst>
          </p:nvPr>
        </p:nvGraphicFramePr>
        <p:xfrm>
          <a:off x="8759874" y="3501006"/>
          <a:ext cx="3311996" cy="1439988"/>
        </p:xfrm>
        <a:graphic>
          <a:graphicData uri="http://schemas.openxmlformats.org/drawingml/2006/table">
            <a:tbl>
              <a:tblPr/>
              <a:tblGrid>
                <a:gridCol w="1051559">
                  <a:extLst>
                    <a:ext uri="{9D8B030D-6E8A-4147-A177-3AD203B41FA5}">
                      <a16:colId xmlns:a16="http://schemas.microsoft.com/office/drawing/2014/main" val="3307489062"/>
                    </a:ext>
                  </a:extLst>
                </a:gridCol>
                <a:gridCol w="2260437">
                  <a:extLst>
                    <a:ext uri="{9D8B030D-6E8A-4147-A177-3AD203B41FA5}">
                      <a16:colId xmlns:a16="http://schemas.microsoft.com/office/drawing/2014/main" val="1797955640"/>
                    </a:ext>
                  </a:extLst>
                </a:gridCol>
              </a:tblGrid>
              <a:tr h="3811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Column</a:t>
                      </a:r>
                    </a:p>
                  </a:txBody>
                  <a:tcPr marL="7941" marR="7941" marT="7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Meaning</a:t>
                      </a:r>
                    </a:p>
                  </a:txBody>
                  <a:tcPr marL="7941" marR="7941" marT="7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451514"/>
                  </a:ext>
                </a:extLst>
              </a:tr>
              <a:tr h="211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artifact_id</a:t>
                      </a:r>
                    </a:p>
                  </a:txBody>
                  <a:tcPr marL="7941" marR="7941" marT="7941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Artifact </a:t>
                      </a:r>
                      <a:r>
                        <a:rPr lang="en-US" alt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id</a:t>
                      </a: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 returned from FTS matches.</a:t>
                      </a:r>
                    </a:p>
                  </a:txBody>
                  <a:tcPr marL="7941" marR="7941" marT="7941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879404"/>
                  </a:ext>
                </a:extLst>
              </a:tr>
              <a:tr h="211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artifact_type</a:t>
                      </a:r>
                    </a:p>
                  </a:txBody>
                  <a:tcPr marL="7941" marR="7941" marT="7941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Artifact type searchable by FTS.</a:t>
                      </a:r>
                    </a:p>
                  </a:txBody>
                  <a:tcPr marL="7941" marR="7941" marT="7941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115179"/>
                  </a:ext>
                </a:extLst>
              </a:tr>
              <a:tr h="211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preview</a:t>
                      </a:r>
                    </a:p>
                  </a:txBody>
                  <a:tcPr marL="7941" marR="7941" marT="7941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Preview text searchable by FTS.</a:t>
                      </a:r>
                    </a:p>
                  </a:txBody>
                  <a:tcPr marL="7941" marR="7941" marT="7941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979894"/>
                  </a:ext>
                </a:extLst>
              </a:tr>
              <a:tr h="211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span_text</a:t>
                      </a:r>
                    </a:p>
                  </a:txBody>
                  <a:tcPr marL="7941" marR="7941" marT="7941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Joined extracted span text searchable by FTS.</a:t>
                      </a:r>
                    </a:p>
                  </a:txBody>
                  <a:tcPr marL="7941" marR="7941" marT="7941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077936"/>
                  </a:ext>
                </a:extLst>
              </a:tr>
              <a:tr h="211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sz="900" b="0" i="0" u="none" strike="noStrike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tool_name</a:t>
                      </a:r>
                    </a:p>
                  </a:txBody>
                  <a:tcPr marL="7941" marR="7941" marT="7941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sz="900" b="0" i="0" u="none" strike="noStrike" dirty="0">
                          <a:solidFill>
                            <a:srgbClr val="1F2937"/>
                          </a:solidFill>
                          <a:effectLst/>
                          <a:latin typeface="Carlito"/>
                        </a:rPr>
                        <a:t>Tool name searchable by FTS.</a:t>
                      </a:r>
                    </a:p>
                  </a:txBody>
                  <a:tcPr marL="7941" marR="7941" marT="7941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5203"/>
                  </a:ext>
                </a:extLst>
              </a:tr>
            </a:tbl>
          </a:graphicData>
        </a:graphic>
      </p:graphicFrame>
      <p:sp>
        <p:nvSpPr>
          <p:cNvPr id="30" name="文字方塊 29">
            <a:extLst>
              <a:ext uri="{FF2B5EF4-FFF2-40B4-BE49-F238E27FC236}">
                <a16:creationId xmlns:a16="http://schemas.microsoft.com/office/drawing/2014/main" id="{6FFD3744-75B3-30FA-6650-924C113ABC8F}"/>
              </a:ext>
            </a:extLst>
          </p:cNvPr>
          <p:cNvSpPr txBox="1"/>
          <p:nvPr/>
        </p:nvSpPr>
        <p:spPr>
          <a:xfrm>
            <a:off x="8759874" y="5071354"/>
            <a:ext cx="33119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FTS5 </a:t>
            </a:r>
            <a:r>
              <a:rPr kumimoji="1" lang="zh-TW" altLang="en-US" dirty="0"/>
              <a:t>是</a:t>
            </a:r>
            <a:r>
              <a:rPr kumimoji="1" lang="en-US" altLang="zh-TW" dirty="0"/>
              <a:t>SQLite</a:t>
            </a:r>
            <a:r>
              <a:rPr kumimoji="1" lang="zh-TW" altLang="en-US" dirty="0"/>
              <a:t>的</a:t>
            </a:r>
            <a:r>
              <a:rPr kumimoji="1" lang="en-US" altLang="zh-TW" dirty="0"/>
              <a:t>Extension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他可以讓存入的資料支援</a:t>
            </a:r>
            <a:r>
              <a:rPr kumimoji="1" lang="en-US" altLang="zh-TW" dirty="0"/>
              <a:t>Full-text search</a:t>
            </a:r>
            <a:r>
              <a:rPr kumimoji="1" lang="zh-TW" altLang="en-US" dirty="0"/>
              <a:t>功能</a:t>
            </a:r>
            <a:endParaRPr kumimoji="1"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其他的表格說明放在</a:t>
            </a:r>
            <a:r>
              <a:rPr kumimoji="1" lang="en-US" altLang="zh-TW" dirty="0"/>
              <a:t>Appendix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1710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5B34A-B09E-3A81-111D-A8D5C73C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906"/>
            <a:ext cx="12190413" cy="1143000"/>
          </a:xfrm>
        </p:spPr>
        <p:txBody>
          <a:bodyPr anchor="ctr"/>
          <a:lstStyle/>
          <a:p>
            <a:r>
              <a:rPr kumimoji="1" lang="en-US" altLang="zh-TW" dirty="0"/>
              <a:t>Artifact API</a:t>
            </a:r>
            <a:endParaRPr kumimoji="1"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9026DB7-3D0C-8628-9A69-4521B5CF6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08642"/>
              </p:ext>
            </p:extLst>
          </p:nvPr>
        </p:nvGraphicFramePr>
        <p:xfrm>
          <a:off x="46534" y="1484784"/>
          <a:ext cx="820891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064">
                  <a:extLst>
                    <a:ext uri="{9D8B030D-6E8A-4147-A177-3AD203B41FA5}">
                      <a16:colId xmlns:a16="http://schemas.microsoft.com/office/drawing/2014/main" val="2901126482"/>
                    </a:ext>
                  </a:extLst>
                </a:gridCol>
                <a:gridCol w="6272848">
                  <a:extLst>
                    <a:ext uri="{9D8B030D-6E8A-4147-A177-3AD203B41FA5}">
                      <a16:colId xmlns:a16="http://schemas.microsoft.com/office/drawing/2014/main" val="29687804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API Function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Description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2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init</a:t>
                      </a: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()</a:t>
                      </a:r>
                      <a:endParaRPr lang="zh-TW" altLang="zh-TW" sz="18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Initialize/Connect to SQLite DB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60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put_artifact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()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Extracting the preview and spans, then store into DB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15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search()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Do full-text search from FTS5 table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627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get_spans</a:t>
                      </a: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()</a:t>
                      </a:r>
                      <a:endParaRPr lang="zh-TW" altLang="zh-TW" sz="18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Obtain specific artifact span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109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expand_view</a:t>
                      </a: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()</a:t>
                      </a:r>
                      <a:endParaRPr lang="zh-TW" altLang="zh-TW" sz="18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Expand view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91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find_related</a:t>
                      </a: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()</a:t>
                      </a:r>
                      <a:endParaRPr lang="zh-TW" altLang="zh-TW" sz="18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Finding the relationship information b/w artifact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5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create_grant</a:t>
                      </a: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()</a:t>
                      </a:r>
                      <a:endParaRPr lang="zh-TW" altLang="zh-TW" sz="18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Creating the grant (set the reading scope and token budget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953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audit</a:t>
                      </a: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()</a:t>
                      </a:r>
                      <a:endParaRPr lang="zh-TW" altLang="zh-TW" sz="18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 us the access logs that occurred for a given grant</a:t>
                      </a:r>
                    </a:p>
                  </a:txBody>
                  <a:tcP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92629943"/>
                  </a:ext>
                </a:extLst>
              </a:tr>
            </a:tbl>
          </a:graphicData>
        </a:graphic>
      </p:graphicFrame>
      <p:sp>
        <p:nvSpPr>
          <p:cNvPr id="4" name="左大括弧 3">
            <a:extLst>
              <a:ext uri="{FF2B5EF4-FFF2-40B4-BE49-F238E27FC236}">
                <a16:creationId xmlns:a16="http://schemas.microsoft.com/office/drawing/2014/main" id="{9D4D1198-49E9-C941-9829-2C2A70A76294}"/>
              </a:ext>
            </a:extLst>
          </p:cNvPr>
          <p:cNvSpPr/>
          <p:nvPr/>
        </p:nvSpPr>
        <p:spPr>
          <a:xfrm flipH="1">
            <a:off x="8255446" y="1866586"/>
            <a:ext cx="504056" cy="25739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FFA722-29F8-D7D1-A58E-EF5A5698B2B3}"/>
              </a:ext>
            </a:extLst>
          </p:cNvPr>
          <p:cNvSpPr txBox="1"/>
          <p:nvPr/>
        </p:nvSpPr>
        <p:spPr>
          <a:xfrm>
            <a:off x="8783643" y="2691899"/>
            <a:ext cx="3549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The function</a:t>
            </a:r>
            <a:r>
              <a:rPr lang="en-US" altLang="zh-TW" dirty="0"/>
              <a:t> API</a:t>
            </a:r>
            <a:r>
              <a:rPr lang="zh-TW" altLang="zh-TW" dirty="0"/>
              <a:t> that the harness actually executes after receiving a tool call from the LLM.</a:t>
            </a:r>
          </a:p>
        </p:txBody>
      </p:sp>
    </p:spTree>
    <p:extLst>
      <p:ext uri="{BB962C8B-B14F-4D97-AF65-F5344CB8AC3E}">
        <p14:creationId xmlns:p14="http://schemas.microsoft.com/office/powerpoint/2010/main" val="903312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5B34A-B09E-3A81-111D-A8D5C73C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626"/>
            <a:ext cx="12037564" cy="1143000"/>
          </a:xfrm>
        </p:spPr>
        <p:txBody>
          <a:bodyPr anchor="ctr"/>
          <a:lstStyle/>
          <a:p>
            <a:r>
              <a:rPr kumimoji="1" lang="en-US" altLang="zh-TW" dirty="0"/>
              <a:t>System Work-Flow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66FFF9-5A9C-07C3-05E3-5A5727C17B12}"/>
              </a:ext>
            </a:extLst>
          </p:cNvPr>
          <p:cNvSpPr/>
          <p:nvPr/>
        </p:nvSpPr>
        <p:spPr>
          <a:xfrm>
            <a:off x="4583038" y="1186626"/>
            <a:ext cx="2311563" cy="3082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2E283102-598D-4AE2-D93D-F1FD28B3A04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738820" y="1494911"/>
            <a:ext cx="0" cy="3397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07F99E60-8116-00B9-663D-96AD852E5B70}"/>
              </a:ext>
            </a:extLst>
          </p:cNvPr>
          <p:cNvSpPr/>
          <p:nvPr/>
        </p:nvSpPr>
        <p:spPr>
          <a:xfrm>
            <a:off x="4583023" y="1834698"/>
            <a:ext cx="2311563" cy="3397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 LLM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43FC7-1A82-078A-6B32-F3EEE8968ABD}"/>
              </a:ext>
            </a:extLst>
          </p:cNvPr>
          <p:cNvSpPr/>
          <p:nvPr/>
        </p:nvSpPr>
        <p:spPr>
          <a:xfrm>
            <a:off x="2301622" y="2853935"/>
            <a:ext cx="2311562" cy="33978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Harness </a:t>
            </a:r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C4663B79-FFDC-E605-589E-1A265C934999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3574926" y="2174485"/>
            <a:ext cx="2163879" cy="6271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ECAE3B01-EF27-CA3C-B529-A8FF35A5A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75559"/>
              </p:ext>
            </p:extLst>
          </p:nvPr>
        </p:nvGraphicFramePr>
        <p:xfrm>
          <a:off x="1202300" y="3466688"/>
          <a:ext cx="453650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252">
                  <a:extLst>
                    <a:ext uri="{9D8B030D-6E8A-4147-A177-3AD203B41FA5}">
                      <a16:colId xmlns:a16="http://schemas.microsoft.com/office/drawing/2014/main" val="3594403700"/>
                    </a:ext>
                  </a:extLst>
                </a:gridCol>
                <a:gridCol w="2268252">
                  <a:extLst>
                    <a:ext uri="{9D8B030D-6E8A-4147-A177-3AD203B41FA5}">
                      <a16:colId xmlns:a16="http://schemas.microsoft.com/office/drawing/2014/main" val="1712476183"/>
                    </a:ext>
                  </a:extLst>
                </a:gridCol>
              </a:tblGrid>
              <a:tr h="3112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Tool Name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Function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63763374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Run_workload</a:t>
                      </a:r>
                      <a:endParaRPr kumimoji="1"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執行工具並存入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DB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871550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Create_grant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建立門禁儲值卡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24477924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Delegate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委託子代理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88115131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Expand_artifact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展開某個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VIEW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10889431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Verify_citation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驗證子代理回傳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951921"/>
                  </a:ext>
                </a:extLst>
              </a:tr>
            </a:tbl>
          </a:graphicData>
        </a:graphic>
      </p:graphicFrame>
      <p:sp>
        <p:nvSpPr>
          <p:cNvPr id="29" name="不規則四邊形 28">
            <a:extLst>
              <a:ext uri="{FF2B5EF4-FFF2-40B4-BE49-F238E27FC236}">
                <a16:creationId xmlns:a16="http://schemas.microsoft.com/office/drawing/2014/main" id="{10C76570-E860-7024-942E-D3D43E9A0258}"/>
              </a:ext>
            </a:extLst>
          </p:cNvPr>
          <p:cNvSpPr/>
          <p:nvPr/>
        </p:nvSpPr>
        <p:spPr>
          <a:xfrm>
            <a:off x="1202300" y="3212926"/>
            <a:ext cx="4536504" cy="253762"/>
          </a:xfrm>
          <a:prstGeom prst="trapezoid">
            <a:avLst>
              <a:gd name="adj" fmla="val 438662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B3EBACB7-5385-4A65-C786-2A904EAB37F0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5720552" y="2801590"/>
            <a:ext cx="2311563" cy="19955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3100C39D-F69B-2508-E23D-32D56A456178}"/>
              </a:ext>
            </a:extLst>
          </p:cNvPr>
          <p:cNvSpPr/>
          <p:nvPr/>
        </p:nvSpPr>
        <p:spPr>
          <a:xfrm>
            <a:off x="8032115" y="2631696"/>
            <a:ext cx="2311563" cy="3397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 LLM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2D8A46E-356E-DF13-CF43-0ABD865E63B3}"/>
              </a:ext>
            </a:extLst>
          </p:cNvPr>
          <p:cNvSpPr/>
          <p:nvPr/>
        </p:nvSpPr>
        <p:spPr>
          <a:xfrm>
            <a:off x="8032115" y="3404261"/>
            <a:ext cx="2311562" cy="3397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Harness </a:t>
            </a: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C6058FED-AA9C-6B88-3C2F-B0870801A4B7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9187896" y="2996902"/>
            <a:ext cx="0" cy="4073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不規則四邊形 36">
            <a:extLst>
              <a:ext uri="{FF2B5EF4-FFF2-40B4-BE49-F238E27FC236}">
                <a16:creationId xmlns:a16="http://schemas.microsoft.com/office/drawing/2014/main" id="{CD164061-E99B-C0F4-C0FA-4DFA10645EDC}"/>
              </a:ext>
            </a:extLst>
          </p:cNvPr>
          <p:cNvSpPr/>
          <p:nvPr/>
        </p:nvSpPr>
        <p:spPr>
          <a:xfrm>
            <a:off x="6821114" y="3744730"/>
            <a:ext cx="4772144" cy="339787"/>
          </a:xfrm>
          <a:prstGeom prst="trapezoid">
            <a:avLst>
              <a:gd name="adj" fmla="val 419339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D468193C-9656-FCC3-28DD-020BB97D9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35780"/>
              </p:ext>
            </p:extLst>
          </p:nvPr>
        </p:nvGraphicFramePr>
        <p:xfrm>
          <a:off x="6821114" y="4084517"/>
          <a:ext cx="477214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2">
                  <a:extLst>
                    <a:ext uri="{9D8B030D-6E8A-4147-A177-3AD203B41FA5}">
                      <a16:colId xmlns:a16="http://schemas.microsoft.com/office/drawing/2014/main" val="3594403700"/>
                    </a:ext>
                  </a:extLst>
                </a:gridCol>
                <a:gridCol w="2386072">
                  <a:extLst>
                    <a:ext uri="{9D8B030D-6E8A-4147-A177-3AD203B41FA5}">
                      <a16:colId xmlns:a16="http://schemas.microsoft.com/office/drawing/2014/main" val="1712476183"/>
                    </a:ext>
                  </a:extLst>
                </a:gridCol>
              </a:tblGrid>
              <a:tr h="3112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Tool Name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Function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763374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Artifact_search</a:t>
                      </a:r>
                      <a:endParaRPr kumimoji="1"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搜尋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DB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71550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Artifact_get_spans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取得實際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Spans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477924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Artifact_expand_view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展開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VIEW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115131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4. </a:t>
                      </a:r>
                      <a:r>
                        <a:rPr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Artifact_find_related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搜尋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</a:t>
                      </a:r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關聯性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89431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5.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Submit_report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子代理回傳結果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951921"/>
                  </a:ext>
                </a:extLst>
              </a:tr>
            </a:tbl>
          </a:graphicData>
        </a:graphic>
      </p:graphicFrame>
      <p:cxnSp>
        <p:nvCxnSpPr>
          <p:cNvPr id="45" name="曲線接點 44">
            <a:extLst>
              <a:ext uri="{FF2B5EF4-FFF2-40B4-BE49-F238E27FC236}">
                <a16:creationId xmlns:a16="http://schemas.microsoft.com/office/drawing/2014/main" id="{A46FA36A-77B1-EECC-019F-9DE884313ED8}"/>
              </a:ext>
            </a:extLst>
          </p:cNvPr>
          <p:cNvCxnSpPr>
            <a:cxnSpLocks/>
            <a:stCxn id="39" idx="2"/>
          </p:cNvCxnSpPr>
          <p:nvPr/>
        </p:nvCxnSpPr>
        <p:spPr>
          <a:xfrm rot="5400000" flipH="1">
            <a:off x="6732035" y="3803926"/>
            <a:ext cx="1481920" cy="3468383"/>
          </a:xfrm>
          <a:prstGeom prst="curvedConnector4">
            <a:avLst>
              <a:gd name="adj1" fmla="val -15426"/>
              <a:gd name="adj2" fmla="val 843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曲線接點 47">
            <a:extLst>
              <a:ext uri="{FF2B5EF4-FFF2-40B4-BE49-F238E27FC236}">
                <a16:creationId xmlns:a16="http://schemas.microsoft.com/office/drawing/2014/main" id="{7B29B5E4-7317-6B53-2335-CA1CDAE3E023}"/>
              </a:ext>
            </a:extLst>
          </p:cNvPr>
          <p:cNvCxnSpPr>
            <a:cxnSpLocks/>
            <a:stCxn id="28" idx="2"/>
            <a:endCxn id="22" idx="1"/>
          </p:cNvCxnSpPr>
          <p:nvPr/>
        </p:nvCxnSpPr>
        <p:spPr>
          <a:xfrm rot="5400000" flipH="1" flipV="1">
            <a:off x="2198459" y="3276684"/>
            <a:ext cx="3656656" cy="1112471"/>
          </a:xfrm>
          <a:prstGeom prst="curvedConnector4">
            <a:avLst>
              <a:gd name="adj1" fmla="val -19513"/>
              <a:gd name="adj2" fmla="val -2804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E02F0ADA-CC80-8B79-C447-031765566ECE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5738803" y="2174485"/>
            <a:ext cx="2" cy="4572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85C256BE-F5A7-188E-7771-A2B96F30FCE1}"/>
              </a:ext>
            </a:extLst>
          </p:cNvPr>
          <p:cNvSpPr/>
          <p:nvPr/>
        </p:nvSpPr>
        <p:spPr>
          <a:xfrm>
            <a:off x="4613184" y="2614846"/>
            <a:ext cx="2311563" cy="3082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8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2" grpId="0" animBg="1"/>
      <p:bldP spid="23" grpId="0" animBg="1"/>
      <p:bldP spid="23" grpId="1" animBg="1"/>
      <p:bldP spid="29" grpId="0" animBg="1"/>
      <p:bldP spid="29" grpId="1" animBg="1"/>
      <p:bldP spid="32" grpId="0" animBg="1"/>
      <p:bldP spid="32" grpId="1" animBg="1"/>
      <p:bldP spid="34" grpId="0" animBg="1"/>
      <p:bldP spid="34" grpId="1" animBg="1"/>
      <p:bldP spid="37" grpId="0" animBg="1"/>
      <p:bldP spid="37" grpId="1" animBg="1"/>
      <p:bldP spid="5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D78704-D33B-F202-8B89-3124C5DB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19" y="89080"/>
            <a:ext cx="10971372" cy="1143000"/>
          </a:xfrm>
        </p:spPr>
        <p:txBody>
          <a:bodyPr anchor="ctr"/>
          <a:lstStyle/>
          <a:p>
            <a:r>
              <a:rPr kumimoji="1" lang="en-US" altLang="zh-TW" dirty="0"/>
              <a:t>VIEW Policy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8CD177-CB87-2382-95C7-6573715491C3}"/>
              </a:ext>
            </a:extLst>
          </p:cNvPr>
          <p:cNvSpPr/>
          <p:nvPr/>
        </p:nvSpPr>
        <p:spPr>
          <a:xfrm>
            <a:off x="4958714" y="1411487"/>
            <a:ext cx="2311563" cy="3397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 LLM</a:t>
            </a:r>
            <a:endParaRPr kumimoji="1" lang="zh-TW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40B080-0ABA-554E-18BF-5D9BD10B10D1}"/>
              </a:ext>
            </a:extLst>
          </p:cNvPr>
          <p:cNvSpPr/>
          <p:nvPr/>
        </p:nvSpPr>
        <p:spPr>
          <a:xfrm>
            <a:off x="4958714" y="2190203"/>
            <a:ext cx="2311562" cy="3397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Harness </a:t>
            </a: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343E3401-2907-DEB5-A15D-EFE019E5649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114495" y="1751274"/>
            <a:ext cx="1" cy="4389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不規則四邊形 6">
            <a:extLst>
              <a:ext uri="{FF2B5EF4-FFF2-40B4-BE49-F238E27FC236}">
                <a16:creationId xmlns:a16="http://schemas.microsoft.com/office/drawing/2014/main" id="{38EEB5F5-6C5A-A994-4DB3-B89FE88B7204}"/>
              </a:ext>
            </a:extLst>
          </p:cNvPr>
          <p:cNvSpPr/>
          <p:nvPr/>
        </p:nvSpPr>
        <p:spPr>
          <a:xfrm>
            <a:off x="3728423" y="2529990"/>
            <a:ext cx="4772144" cy="340469"/>
          </a:xfrm>
          <a:prstGeom prst="trapezoid">
            <a:avLst>
              <a:gd name="adj" fmla="val 419339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446648A-930E-4184-446B-C4EBA6767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670438"/>
              </p:ext>
            </p:extLst>
          </p:nvPr>
        </p:nvGraphicFramePr>
        <p:xfrm>
          <a:off x="3579666" y="2870459"/>
          <a:ext cx="50310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540">
                  <a:extLst>
                    <a:ext uri="{9D8B030D-6E8A-4147-A177-3AD203B41FA5}">
                      <a16:colId xmlns:a16="http://schemas.microsoft.com/office/drawing/2014/main" val="3594403700"/>
                    </a:ext>
                  </a:extLst>
                </a:gridCol>
                <a:gridCol w="2515540">
                  <a:extLst>
                    <a:ext uri="{9D8B030D-6E8A-4147-A177-3AD203B41FA5}">
                      <a16:colId xmlns:a16="http://schemas.microsoft.com/office/drawing/2014/main" val="1712476183"/>
                    </a:ext>
                  </a:extLst>
                </a:gridCol>
              </a:tblGrid>
              <a:tr h="31122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Tool Name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Function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763374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…</a:t>
                      </a:r>
                      <a:endParaRPr kumimoji="1"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…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71550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en-US" altLang="zh-TW" sz="1600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Artifact_expand_view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展開</a:t>
                      </a:r>
                      <a:r>
                        <a:rPr lang="en-US" altLang="zh-TW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artifact_type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 View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115131"/>
                  </a:ext>
                </a:extLst>
              </a:tr>
              <a:tr h="3112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…</a:t>
                      </a:r>
                      <a:endParaRPr lang="zh-TW" altLang="en-US" sz="1600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…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89431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3C6FE8-BF4B-3597-4EB5-DCCB7C804BFB}"/>
              </a:ext>
            </a:extLst>
          </p:cNvPr>
          <p:cNvSpPr/>
          <p:nvPr/>
        </p:nvSpPr>
        <p:spPr>
          <a:xfrm>
            <a:off x="118542" y="5383050"/>
            <a:ext cx="11953328" cy="147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64ECD41-B141-3A37-CE24-07E4B7629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499730"/>
              </p:ext>
            </p:extLst>
          </p:nvPr>
        </p:nvGraphicFramePr>
        <p:xfrm>
          <a:off x="1414686" y="4491494"/>
          <a:ext cx="961306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475">
                  <a:extLst>
                    <a:ext uri="{9D8B030D-6E8A-4147-A177-3AD203B41FA5}">
                      <a16:colId xmlns:a16="http://schemas.microsoft.com/office/drawing/2014/main" val="2901126482"/>
                    </a:ext>
                  </a:extLst>
                </a:gridCol>
                <a:gridCol w="8043593">
                  <a:extLst>
                    <a:ext uri="{9D8B030D-6E8A-4147-A177-3AD203B41FA5}">
                      <a16:colId xmlns:a16="http://schemas.microsoft.com/office/drawing/2014/main" val="29687804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VIEW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Content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2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stored preview, omit-fits truncated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60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spans by importance DESC, formatted with </a:t>
                      </a:r>
                      <a:r>
                        <a:rPr lang="en-US" altLang="zh-TW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span_id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 + location for citation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15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raw_blob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 with regex masks (Ex: </a:t>
                      </a:r>
                      <a:r>
                        <a:rPr lang="en-US" altLang="zh-TW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maks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 the API key, </a:t>
                      </a:r>
                      <a:r>
                        <a:rPr lang="en-US" altLang="zh-TW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passward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 …) 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627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raw_blob</a:t>
                      </a:r>
                      <a:r>
                        <a:rPr lang="en-US" altLang="zh-TW" dirty="0">
                          <a:latin typeface="Arial" panose="020B0604020202020204" pitchFamily="34" charset="0"/>
                          <a:ea typeface="BiauKaiTC Regular" panose="03000500000000000000" pitchFamily="66" charset="-120"/>
                          <a:cs typeface="Arial" panose="020B0604020202020204" pitchFamily="34" charset="0"/>
                        </a:rPr>
                        <a:t> directly</a:t>
                      </a:r>
                      <a:endParaRPr lang="zh-TW" altLang="en-US" dirty="0">
                        <a:latin typeface="Arial" panose="020B0604020202020204" pitchFamily="34" charset="0"/>
                        <a:ea typeface="BiauKaiTC Regular" panose="03000500000000000000" pitchFamily="66" charset="-12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91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 dump of artifact metadata + outbound links + span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5846"/>
                  </a:ext>
                </a:extLst>
              </a:tr>
            </a:tbl>
          </a:graphicData>
        </a:graphic>
      </p:graphicFrame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BBDB280-E615-2226-A3B8-19CCE7124E5E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6221220" y="3933056"/>
            <a:ext cx="1049056" cy="5584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16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5B34A-B09E-3A81-111D-A8D5C73C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6" y="216162"/>
            <a:ext cx="12470461" cy="1143000"/>
          </a:xfrm>
        </p:spPr>
        <p:txBody>
          <a:bodyPr anchor="ctr"/>
          <a:lstStyle/>
          <a:p>
            <a:r>
              <a:rPr kumimoji="1" lang="en-US" altLang="zh-TW" dirty="0"/>
              <a:t>Experiments: Single Agent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5959E33-9B1D-57C7-D3B5-8A97C86C91C2}"/>
              </a:ext>
            </a:extLst>
          </p:cNvPr>
          <p:cNvSpPr txBox="1"/>
          <p:nvPr/>
        </p:nvSpPr>
        <p:spPr>
          <a:xfrm>
            <a:off x="1198662" y="4653136"/>
            <a:ext cx="8289872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展示最開頭提到的不同方法的數據結果</a:t>
            </a:r>
            <a:r>
              <a:rPr kumimoji="1" lang="en-US" altLang="zh-TW" dirty="0"/>
              <a:t>(raw, truncated, summary, artifact store)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Metrics</a:t>
            </a:r>
            <a:r>
              <a:rPr kumimoji="1" lang="zh-TW" altLang="en-US" dirty="0"/>
              <a:t>是什麼：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消耗、</a:t>
            </a:r>
            <a:r>
              <a:rPr kumimoji="1" lang="en-US" altLang="zh-TW" dirty="0"/>
              <a:t>latency</a:t>
            </a:r>
            <a:r>
              <a:rPr kumimoji="1" lang="zh-TW" altLang="en-US" dirty="0"/>
              <a:t>、問題成功率</a:t>
            </a:r>
            <a:r>
              <a:rPr kumimoji="1" lang="en-US" altLang="zh-TW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待討論：要展示單一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嗎</a:t>
            </a:r>
            <a:r>
              <a:rPr kumimoji="1" lang="en-US" altLang="zh-TW" dirty="0"/>
              <a:t>(B1-B4)</a:t>
            </a:r>
            <a:r>
              <a:rPr kumimoji="1" lang="zh-TW" altLang="en-US" dirty="0"/>
              <a:t>，如果要的話那麼需要說明單一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怎麼操作</a:t>
            </a:r>
            <a:r>
              <a:rPr kumimoji="1" lang="en-US" altLang="zh-TW" dirty="0"/>
              <a:t>artifact store</a:t>
            </a:r>
            <a:r>
              <a:rPr kumimoji="1" lang="zh-TW" altLang="en-US" dirty="0"/>
              <a:t>，或者可以展示雙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時，</a:t>
            </a:r>
            <a:r>
              <a:rPr kumimoji="1" lang="en-US" altLang="zh-TW" dirty="0"/>
              <a:t>sub agent</a:t>
            </a:r>
            <a:r>
              <a:rPr kumimoji="1" lang="zh-TW" altLang="en-US" dirty="0"/>
              <a:t>看的回傳的比較</a:t>
            </a:r>
            <a:r>
              <a:rPr kumimoji="1" lang="en-US" altLang="zh-TW" dirty="0"/>
              <a:t>(D1-D3)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或者是我們再設計一下實驗，例如首先我們跑了單一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，然後到雙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。</a:t>
            </a:r>
            <a:endParaRPr kumimoji="1" lang="en-US" altLang="zh-TW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AF404B-57D3-5DA6-E553-C133FF042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880843"/>
              </p:ext>
            </p:extLst>
          </p:nvPr>
        </p:nvGraphicFramePr>
        <p:xfrm>
          <a:off x="190550" y="1337686"/>
          <a:ext cx="7872874" cy="28013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6437">
                  <a:extLst>
                    <a:ext uri="{9D8B030D-6E8A-4147-A177-3AD203B41FA5}">
                      <a16:colId xmlns:a16="http://schemas.microsoft.com/office/drawing/2014/main" val="3610806756"/>
                    </a:ext>
                  </a:extLst>
                </a:gridCol>
                <a:gridCol w="3936437">
                  <a:extLst>
                    <a:ext uri="{9D8B030D-6E8A-4147-A177-3AD203B41FA5}">
                      <a16:colId xmlns:a16="http://schemas.microsoft.com/office/drawing/2014/main" val="1893156968"/>
                    </a:ext>
                  </a:extLst>
                </a:gridCol>
              </a:tblGrid>
              <a:tr h="507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Approach</a:t>
                      </a:r>
                      <a:endParaRPr lang="zh-TW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zh-TW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9931617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Raw accumulation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eep tool outputs in context.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503440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Truncation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emove or hide older observations.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4937728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Summarization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zh-TW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ompress tool history into summaries.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660539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algn="ctr"/>
                      <a:r>
                        <a:rPr lang="en" altLang="zh-TW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Retrieval / memory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tore external information and retrieve relevant chunks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810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75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5B34A-B09E-3A81-111D-A8D5C73C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6" y="216162"/>
            <a:ext cx="12470461" cy="1143000"/>
          </a:xfrm>
        </p:spPr>
        <p:txBody>
          <a:bodyPr anchor="ctr"/>
          <a:lstStyle/>
          <a:p>
            <a:r>
              <a:rPr kumimoji="1" lang="en" altLang="zh-TW" dirty="0"/>
              <a:t>Slide 10</a:t>
            </a:r>
            <a:r>
              <a:rPr kumimoji="1" lang="zh-TW" altLang="en" dirty="0"/>
              <a:t>：</a:t>
            </a:r>
            <a:r>
              <a:rPr kumimoji="1" lang="en-US" altLang="zh-TW" dirty="0"/>
              <a:t>experiment 1</a:t>
            </a:r>
            <a:endParaRPr kumimoji="1"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BC60136-2036-AB4A-E94E-C721EF58F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6" y="1357705"/>
            <a:ext cx="7772400" cy="316623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762A58C-BC76-DC96-5336-E0A889D3049E}"/>
              </a:ext>
            </a:extLst>
          </p:cNvPr>
          <p:cNvSpPr txBox="1"/>
          <p:nvPr/>
        </p:nvSpPr>
        <p:spPr>
          <a:xfrm>
            <a:off x="8183438" y="1359162"/>
            <a:ext cx="374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說明四種</a:t>
            </a:r>
            <a:r>
              <a:rPr kumimoji="1" lang="en-US" altLang="zh-TW" dirty="0"/>
              <a:t>case</a:t>
            </a:r>
            <a:r>
              <a:rPr kumimoji="1" lang="zh-TW" altLang="en-US" dirty="0"/>
              <a:t>的意思</a:t>
            </a:r>
            <a:endParaRPr kumimoji="1"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8719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5B34A-B09E-3A81-111D-A8D5C73C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6" y="216162"/>
            <a:ext cx="12470461" cy="1143000"/>
          </a:xfrm>
        </p:spPr>
        <p:txBody>
          <a:bodyPr anchor="ctr"/>
          <a:lstStyle/>
          <a:p>
            <a:r>
              <a:rPr kumimoji="1" lang="en" altLang="zh-TW" dirty="0"/>
              <a:t>Slide 11</a:t>
            </a:r>
            <a:r>
              <a:rPr kumimoji="1" lang="zh-TW" altLang="en" dirty="0"/>
              <a:t>：</a:t>
            </a:r>
            <a:r>
              <a:rPr kumimoji="1" lang="en-US" altLang="zh-TW" dirty="0"/>
              <a:t>Future Work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5959E33-9B1D-57C7-D3B5-8A97C86C91C2}"/>
              </a:ext>
            </a:extLst>
          </p:cNvPr>
          <p:cNvSpPr txBox="1"/>
          <p:nvPr/>
        </p:nvSpPr>
        <p:spPr>
          <a:xfrm>
            <a:off x="1117702" y="1700808"/>
            <a:ext cx="82898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What have we built?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What haven’t we finished? limitations?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215B578-2179-4747-F45F-E974F23CC664}"/>
              </a:ext>
            </a:extLst>
          </p:cNvPr>
          <p:cNvSpPr txBox="1"/>
          <p:nvPr/>
        </p:nvSpPr>
        <p:spPr>
          <a:xfrm>
            <a:off x="1117702" y="2347139"/>
            <a:ext cx="62536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工具的實際建置，目前是</a:t>
            </a:r>
            <a:r>
              <a:rPr lang="en-US" altLang="zh-TW" dirty="0"/>
              <a:t>tool call</a:t>
            </a:r>
            <a:r>
              <a:rPr lang="zh-TW" altLang="en-US" dirty="0"/>
              <a:t>時直接回傳的</a:t>
            </a:r>
            <a:r>
              <a:rPr lang="en-US" altLang="zh-TW" dirty="0"/>
              <a:t>fixture logs</a:t>
            </a:r>
            <a:endParaRPr lang="zh-TW" altLang="en-US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每種 artifact_type 有自己的 extractor registry。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模型本身的強弱問題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4753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5B34A-B09E-3A81-111D-A8D5C73C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6" y="216162"/>
            <a:ext cx="12470461" cy="1143000"/>
          </a:xfrm>
        </p:spPr>
        <p:txBody>
          <a:bodyPr anchor="ctr"/>
          <a:lstStyle/>
          <a:p>
            <a:r>
              <a:rPr kumimoji="1" lang="en-US" altLang="zh-TW" dirty="0"/>
              <a:t>Demo </a:t>
            </a:r>
            <a:r>
              <a:rPr kumimoji="1" lang="zh-TW" altLang="en-US" dirty="0"/>
              <a:t>系統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215B578-2179-4747-F45F-E974F23CC664}"/>
              </a:ext>
            </a:extLst>
          </p:cNvPr>
          <p:cNvSpPr txBox="1"/>
          <p:nvPr/>
        </p:nvSpPr>
        <p:spPr>
          <a:xfrm>
            <a:off x="57711" y="1374433"/>
            <a:ext cx="62536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/>
              <a:t>Demo </a:t>
            </a:r>
            <a:r>
              <a:rPr lang="zh-TW" altLang="en-US" dirty="0"/>
              <a:t>展示說明：</a:t>
            </a:r>
            <a:r>
              <a:rPr kumimoji="1" lang="en-US" altLang="zh-TW" dirty="0"/>
              <a:t>User Prompt</a:t>
            </a:r>
            <a:r>
              <a:rPr kumimoji="1" lang="zh-TW" altLang="en-US" dirty="0"/>
              <a:t>、</a:t>
            </a:r>
            <a:r>
              <a:rPr kumimoji="1" lang="en-US" altLang="zh-TW" dirty="0"/>
              <a:t>Supervisor Agent: LLM/ Harness</a:t>
            </a:r>
            <a:r>
              <a:rPr kumimoji="1" lang="zh-TW" altLang="en-US" dirty="0"/>
              <a:t>和</a:t>
            </a:r>
            <a:r>
              <a:rPr kumimoji="1" lang="en-US" altLang="zh-TW" dirty="0"/>
              <a:t>Sub Agent: LLM/Harness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dirty="0"/>
              <a:t>Work Flow</a:t>
            </a:r>
            <a:r>
              <a:rPr lang="zh-TW" altLang="en-US" dirty="0"/>
              <a:t>演示：</a:t>
            </a:r>
            <a:endParaRPr lang="en-US" altLang="zh-TW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/>
              <a:t>LLM</a:t>
            </a:r>
            <a:r>
              <a:rPr lang="zh-TW" altLang="en-US" dirty="0"/>
              <a:t>一次能呼叫多個</a:t>
            </a:r>
            <a:r>
              <a:rPr lang="en-US" altLang="zh-TW" dirty="0"/>
              <a:t>tool</a:t>
            </a:r>
            <a:r>
              <a:rPr lang="zh-TW" altLang="en-US" dirty="0"/>
              <a:t>，由</a:t>
            </a:r>
            <a:r>
              <a:rPr lang="en-US" altLang="zh-TW" dirty="0"/>
              <a:t>harness</a:t>
            </a:r>
            <a:r>
              <a:rPr lang="zh-TW" altLang="en-US" dirty="0"/>
              <a:t>負責執行，執行過程中不會中途呼叫</a:t>
            </a:r>
            <a:endParaRPr lang="en-US" altLang="zh-TW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/>
              <a:t>Sub Agent</a:t>
            </a:r>
            <a:r>
              <a:rPr lang="zh-TW" altLang="en-US" dirty="0"/>
              <a:t>可以視為</a:t>
            </a:r>
            <a:r>
              <a:rPr lang="en-US" altLang="zh-TW" dirty="0"/>
              <a:t>sup agent</a:t>
            </a:r>
            <a:r>
              <a:rPr lang="zh-TW" altLang="en-US" dirty="0"/>
              <a:t>的一項</a:t>
            </a:r>
            <a:r>
              <a:rPr lang="en-US" altLang="zh-TW" dirty="0"/>
              <a:t>delegate</a:t>
            </a:r>
            <a:r>
              <a:rPr lang="zh-TW" altLang="en-US" dirty="0"/>
              <a:t>工具</a:t>
            </a:r>
            <a:endParaRPr lang="en-US" altLang="zh-TW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/>
              <a:t>LLM </a:t>
            </a:r>
            <a:r>
              <a:rPr lang="zh-TW" altLang="en-US" dirty="0"/>
              <a:t>每次</a:t>
            </a:r>
            <a:r>
              <a:rPr lang="en-US" altLang="zh-TW" dirty="0"/>
              <a:t>output</a:t>
            </a:r>
            <a:r>
              <a:rPr lang="zh-TW" altLang="en-US" dirty="0"/>
              <a:t>有兩種：</a:t>
            </a:r>
            <a:endParaRPr lang="en-US" altLang="zh-TW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dirty="0"/>
              <a:t>Text: </a:t>
            </a:r>
            <a:r>
              <a:rPr lang="zh-TW" altLang="en-US" dirty="0"/>
              <a:t>但不一定會有</a:t>
            </a:r>
            <a:endParaRPr lang="en-US" altLang="zh-TW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dirty="0"/>
              <a:t>Tool use reply: </a:t>
            </a:r>
            <a:r>
              <a:rPr lang="zh-TW" altLang="en-US" dirty="0"/>
              <a:t>告訴</a:t>
            </a:r>
            <a:r>
              <a:rPr lang="en-US" altLang="zh-TW" dirty="0"/>
              <a:t>harness</a:t>
            </a:r>
            <a:r>
              <a:rPr lang="zh-TW" altLang="en-US" dirty="0"/>
              <a:t>要用什麼工具、指令要給什麼</a:t>
            </a:r>
            <a:endParaRPr lang="en-US" altLang="zh-TW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/>
              <a:t>Error handle: </a:t>
            </a:r>
            <a:r>
              <a:rPr lang="zh-TW" altLang="en-US" dirty="0"/>
              <a:t>什麼時候會回傳錯誤，錯誤怎麼處理。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60729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1632</Words>
  <Application>Microsoft Macintosh PowerPoint</Application>
  <PresentationFormat>自訂</PresentationFormat>
  <Paragraphs>357</Paragraphs>
  <Slides>16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Carlito</vt:lpstr>
      <vt:lpstr>Arial</vt:lpstr>
      <vt:lpstr>Calibri</vt:lpstr>
      <vt:lpstr>Office 佈景主題</vt:lpstr>
      <vt:lpstr>DBMS Final Project: ArtifactStore</vt:lpstr>
      <vt:lpstr>Outline</vt:lpstr>
      <vt:lpstr>Motivation: Tool Outputs Overload Agent Context</vt:lpstr>
      <vt:lpstr>Existing Ways to Handle Large Tool Outputs</vt:lpstr>
      <vt:lpstr>Harness: Agent Loop</vt:lpstr>
      <vt:lpstr>Harness: Tool call</vt:lpstr>
      <vt:lpstr>Agent Tools</vt:lpstr>
      <vt:lpstr>Data Model </vt:lpstr>
      <vt:lpstr>Table Schemas</vt:lpstr>
      <vt:lpstr>Artifact API</vt:lpstr>
      <vt:lpstr>System Work-Flow</vt:lpstr>
      <vt:lpstr>VIEW Policy</vt:lpstr>
      <vt:lpstr>Experiments: Single Agent</vt:lpstr>
      <vt:lpstr>Slide 10：experiment 1</vt:lpstr>
      <vt:lpstr>Slide 11：Future Work</vt:lpstr>
      <vt:lpstr>Demo 系統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geoct</dc:creator>
  <cp:lastModifiedBy>白謹瑜</cp:lastModifiedBy>
  <cp:revision>43</cp:revision>
  <dcterms:created xsi:type="dcterms:W3CDTF">2016-08-29T07:10:42Z</dcterms:created>
  <dcterms:modified xsi:type="dcterms:W3CDTF">2026-05-31T10:36:14Z</dcterms:modified>
</cp:coreProperties>
</file>